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handoutMasterIdLst>
    <p:handoutMasterId r:id="rId21"/>
  </p:handoutMasterIdLst>
  <p:sldIdLst>
    <p:sldId id="2566" r:id="rId3"/>
    <p:sldId id="2567" r:id="rId4"/>
    <p:sldId id="2568" r:id="rId5"/>
    <p:sldId id="2179" r:id="rId6"/>
    <p:sldId id="2569" r:id="rId7"/>
    <p:sldId id="2570" r:id="rId8"/>
    <p:sldId id="3815" r:id="rId9"/>
    <p:sldId id="3499" r:id="rId10"/>
    <p:sldId id="3816" r:id="rId11"/>
    <p:sldId id="3681" r:id="rId12"/>
    <p:sldId id="3744" r:id="rId13"/>
    <p:sldId id="3837" r:id="rId14"/>
    <p:sldId id="3838" r:id="rId15"/>
    <p:sldId id="3841" r:id="rId16"/>
    <p:sldId id="2750" r:id="rId17"/>
    <p:sldId id="3839" r:id="rId19"/>
    <p:sldId id="3840" r:id="rId20"/>
  </p:sldIdLst>
  <p:sldSz cx="12192000" cy="6858000"/>
  <p:notesSz cx="6858000" cy="9144000"/>
  <p:custDataLst>
    <p:tags r:id="rId2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2888" userDrawn="1">
          <p15:clr>
            <a:srgbClr val="A4A3A4"/>
          </p15:clr>
        </p15:guide>
        <p15:guide id="2" orient="horz" pos="75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K" initials="8" lastIdx="4" clrIdx="0"/>
  <p:cmAuthor id="2" name="K31421" initials="K" lastIdx="1" clrIdx="1"/>
  <p:cmAuthor id="3" name="hep" initials="h" lastIdx="32" clrIdx="2"/>
  <p:cmAuthor id="4" name="cpy" initials="c" lastIdx="1" clrIdx="3"/>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E3C00"/>
    <a:srgbClr val="FF6737"/>
    <a:srgbClr val="CC3300"/>
    <a:srgbClr val="FFFDFD"/>
    <a:srgbClr val="DC9450"/>
    <a:srgbClr val="9A7470"/>
    <a:srgbClr val="ED7235"/>
    <a:srgbClr val="76CBF2"/>
    <a:srgbClr val="F6F9FE"/>
    <a:srgbClr val="67B6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146" autoAdjust="0"/>
    <p:restoredTop sz="95244" autoAdjust="0"/>
  </p:normalViewPr>
  <p:slideViewPr>
    <p:cSldViewPr showGuides="1">
      <p:cViewPr varScale="1">
        <p:scale>
          <a:sx n="86" d="100"/>
          <a:sy n="86" d="100"/>
        </p:scale>
        <p:origin x="600" y="62"/>
      </p:cViewPr>
      <p:guideLst>
        <p:guide pos="2888"/>
        <p:guide orient="horz" pos="75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30" d="100"/>
        <a:sy n="130" d="100"/>
      </p:scale>
      <p:origin x="0" y="-27894"/>
    </p:cViewPr>
  </p:sorterViewPr>
  <p:notesViewPr>
    <p:cSldViewPr>
      <p:cViewPr varScale="1">
        <p:scale>
          <a:sx n="84" d="100"/>
          <a:sy n="84" d="100"/>
        </p:scale>
        <p:origin x="3498" y="90"/>
      </p:cViewPr>
      <p:guideLst/>
    </p:cSldViewPr>
  </p:notesViewPr>
  <p:gridSpacing cx="36004" cy="36004"/>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6" Type="http://schemas.openxmlformats.org/officeDocument/2006/relationships/tags" Target="tags/tag1.xml"/><Relationship Id="rId25" Type="http://schemas.openxmlformats.org/officeDocument/2006/relationships/commentAuthors" Target="commentAuthors.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handoutMaster" Target="handoutMasters/handoutMaster1.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notesMaster" Target="notesMasters/notesMaster1.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17867B3-3E48-49E2-92A7-4443A58BED28}"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0E5956C-22E4-4232-B66F-85ECDE576E6A}"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670D4F-9E4A-49DE-8109-90CDAC769F07}"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8C695A-5F97-42A9-BC5B-16E22B1DDB01}"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D8C695A-5F97-42A9-BC5B-16E22B1DDB01}"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空白页">
    <p:bg>
      <p:bgPr>
        <a:solidFill>
          <a:srgbClr val="FFFDFD"/>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356357"/>
            <a:ext cx="2844800" cy="365125"/>
          </a:xfrm>
          <a:prstGeom prst="rect">
            <a:avLst/>
          </a:prstGeom>
        </p:spPr>
        <p:txBody>
          <a:bodyPr/>
          <a:lstStyle/>
          <a:p>
            <a:fld id="{FF19390A-18A5-4C53-9813-A42245FDE6EF}" type="datetimeFigureOut">
              <a:rPr lang="zh-CN" altLang="en-US" smtClean="0"/>
            </a:fld>
            <a:endParaRPr lang="zh-CN" altLang="en-US"/>
          </a:p>
        </p:txBody>
      </p:sp>
      <p:sp>
        <p:nvSpPr>
          <p:cNvPr id="3" name="页脚占位符 2"/>
          <p:cNvSpPr>
            <a:spLocks noGrp="1"/>
          </p:cNvSpPr>
          <p:nvPr>
            <p:ph type="ftr" sz="quarter" idx="11"/>
          </p:nvPr>
        </p:nvSpPr>
        <p:spPr>
          <a:xfrm>
            <a:off x="4165600" y="6356357"/>
            <a:ext cx="3860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737600" y="6356357"/>
            <a:ext cx="2844800" cy="365125"/>
          </a:xfrm>
          <a:prstGeom prst="rect">
            <a:avLst/>
          </a:prstGeom>
        </p:spPr>
        <p:txBody>
          <a:bodyPr/>
          <a:lstStyle/>
          <a:p>
            <a:fld id="{2A5C66BE-06D2-45A4-8A0B-145CE6A700D7}"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DFD"/>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85028" y="1055898"/>
            <a:ext cx="10821944" cy="5469446"/>
          </a:xfrm>
          <a:prstGeom prst="rect">
            <a:avLst/>
          </a:prstGeom>
          <a:noFill/>
        </p:spPr>
        <p:txBody>
          <a:bodyPr wrap="square">
            <a:spAutoFit/>
          </a:bodyPr>
          <a:lstStyle/>
          <a:p>
            <a:pPr algn="just">
              <a:lnSpc>
                <a:spcPct val="147000"/>
              </a:lnSpc>
            </a:pPr>
            <a:r>
              <a:rPr lang="zh-CN" altLang="zh-CN" sz="2000" b="1" kern="100" dirty="0">
                <a:effectLst/>
                <a:latin typeface="Calibri" panose="020F0502020204030204" pitchFamily="34" charset="0"/>
                <a:ea typeface="微软雅黑" panose="020B0503020204020204" pitchFamily="34" charset="-122"/>
                <a:cs typeface="Times New Roman" panose="02020603050405020304" pitchFamily="18" charset="0"/>
              </a:rPr>
              <a:t>【</a:t>
            </a:r>
            <a:r>
              <a:rPr lang="zh-CN" altLang="en-US" sz="2000" b="1" kern="100" dirty="0">
                <a:effectLst/>
                <a:latin typeface="Calibri" panose="020F0502020204030204" pitchFamily="34" charset="0"/>
                <a:ea typeface="微软雅黑" panose="020B0503020204020204" pitchFamily="34" charset="-122"/>
                <a:cs typeface="Times New Roman" panose="02020603050405020304" pitchFamily="18" charset="0"/>
              </a:rPr>
              <a:t>重点识记</a:t>
            </a:r>
            <a:r>
              <a:rPr lang="zh-CN" altLang="zh-CN" sz="2000" b="1" kern="100" dirty="0">
                <a:effectLst/>
                <a:latin typeface="Calibri" panose="020F0502020204030204" pitchFamily="34" charset="0"/>
                <a:ea typeface="微软雅黑" panose="020B0503020204020204" pitchFamily="34" charset="-122"/>
                <a:cs typeface="Times New Roman" panose="02020603050405020304" pitchFamily="18" charset="0"/>
              </a:rPr>
              <a:t>】</a:t>
            </a:r>
            <a:endPar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47000"/>
              </a:lnSpc>
            </a:pPr>
            <a:r>
              <a:rPr lang="en-US" altLang="zh-CN" sz="2000" dirty="0">
                <a:latin typeface="微软雅黑" panose="020B0503020204020204" pitchFamily="34" charset="-122"/>
                <a:ea typeface="微软雅黑" panose="020B0503020204020204" pitchFamily="34" charset="-122"/>
              </a:rPr>
              <a:t>1.</a:t>
            </a:r>
            <a:r>
              <a:rPr lang="zh-CN" altLang="zh-CN" sz="2000" dirty="0">
                <a:latin typeface="微软雅黑" panose="020B0503020204020204" pitchFamily="34" charset="-122"/>
                <a:ea typeface="微软雅黑" panose="020B0503020204020204" pitchFamily="34" charset="-122"/>
              </a:rPr>
              <a:t>习近平新时代中国特色社会主义思想</a:t>
            </a:r>
            <a:r>
              <a:rPr lang="zh-CN" altLang="en-US" sz="2000" dirty="0">
                <a:latin typeface="微软雅黑" panose="020B0503020204020204" pitchFamily="34" charset="-122"/>
                <a:ea typeface="微软雅黑" panose="020B0503020204020204" pitchFamily="34" charset="-122"/>
              </a:rPr>
              <a:t>的创立背景</a:t>
            </a:r>
            <a:endParaRPr lang="en-US" altLang="zh-CN" sz="2000" dirty="0">
              <a:latin typeface="微软雅黑" panose="020B0503020204020204" pitchFamily="34" charset="-122"/>
              <a:ea typeface="微软雅黑" panose="020B0503020204020204" pitchFamily="34" charset="-122"/>
            </a:endParaRPr>
          </a:p>
          <a:p>
            <a:pPr algn="just">
              <a:lnSpc>
                <a:spcPct val="147000"/>
              </a:lnSpc>
            </a:pPr>
            <a:r>
              <a:rPr lang="en-US" altLang="zh-CN" sz="2000" dirty="0">
                <a:latin typeface="微软雅黑" panose="020B0503020204020204" pitchFamily="34" charset="-122"/>
                <a:ea typeface="微软雅黑" panose="020B0503020204020204" pitchFamily="34" charset="-122"/>
              </a:rPr>
              <a:t>2.</a:t>
            </a:r>
            <a:r>
              <a:rPr lang="zh-CN" altLang="zh-CN" sz="2000" dirty="0">
                <a:latin typeface="微软雅黑" panose="020B0503020204020204" pitchFamily="34" charset="-122"/>
                <a:ea typeface="微软雅黑" panose="020B0503020204020204" pitchFamily="34" charset="-122"/>
              </a:rPr>
              <a:t>习近平新时代中国特色社会主义思想的科学体系</a:t>
            </a:r>
            <a:endParaRPr lang="en-US" altLang="zh-CN" sz="2000" dirty="0">
              <a:latin typeface="微软雅黑" panose="020B0503020204020204" pitchFamily="34" charset="-122"/>
              <a:ea typeface="微软雅黑" panose="020B0503020204020204" pitchFamily="34" charset="-122"/>
            </a:endParaRPr>
          </a:p>
          <a:p>
            <a:pPr algn="just">
              <a:lnSpc>
                <a:spcPct val="147000"/>
              </a:lnSpc>
            </a:pPr>
            <a:r>
              <a:rPr lang="en-US" altLang="zh-CN" sz="2000" dirty="0">
                <a:latin typeface="微软雅黑" panose="020B0503020204020204" pitchFamily="34" charset="-122"/>
                <a:ea typeface="微软雅黑" panose="020B0503020204020204" pitchFamily="34" charset="-122"/>
              </a:rPr>
              <a:t>3.</a:t>
            </a:r>
            <a:r>
              <a:rPr lang="zh-CN" altLang="zh-CN" sz="2000" dirty="0">
                <a:latin typeface="微软雅黑" panose="020B0503020204020204" pitchFamily="34" charset="-122"/>
                <a:ea typeface="微软雅黑" panose="020B0503020204020204" pitchFamily="34" charset="-122"/>
              </a:rPr>
              <a:t>习近平新时代中国特色社会主义思想的</a:t>
            </a:r>
            <a:r>
              <a:rPr lang="zh-CN" altLang="en-US" sz="2000" dirty="0">
                <a:latin typeface="微软雅黑" panose="020B0503020204020204" pitchFamily="34" charset="-122"/>
                <a:ea typeface="微软雅黑" panose="020B0503020204020204" pitchFamily="34" charset="-122"/>
                <a:sym typeface="+mn-ea"/>
              </a:rPr>
              <a:t>历史地位</a:t>
            </a:r>
            <a:endParaRPr lang="en-US" altLang="zh-CN" sz="2000" dirty="0">
              <a:latin typeface="微软雅黑" panose="020B0503020204020204" pitchFamily="34" charset="-122"/>
              <a:ea typeface="微软雅黑" panose="020B0503020204020204" pitchFamily="34" charset="-122"/>
              <a:sym typeface="+mn-ea"/>
            </a:endParaRPr>
          </a:p>
          <a:p>
            <a:pPr algn="just">
              <a:lnSpc>
                <a:spcPct val="147000"/>
              </a:lnSpc>
            </a:pPr>
            <a:r>
              <a:rPr lang="en-US" altLang="zh-CN" sz="2000" dirty="0">
                <a:latin typeface="微软雅黑" panose="020B0503020204020204" pitchFamily="34" charset="-122"/>
                <a:ea typeface="微软雅黑" panose="020B0503020204020204" pitchFamily="34" charset="-122"/>
                <a:sym typeface="+mn-ea"/>
              </a:rPr>
              <a:t>4.</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sym typeface="+mn-ea"/>
              </a:rPr>
              <a:t> 深刻领悟“两个确立”的决定性意义</a:t>
            </a:r>
            <a:endParaRPr lang="en-US" altLang="zh-CN" sz="2000" dirty="0">
              <a:latin typeface="微软雅黑" panose="020B0503020204020204" pitchFamily="34" charset="-122"/>
              <a:ea typeface="微软雅黑" panose="020B0503020204020204" pitchFamily="34" charset="-122"/>
              <a:sym typeface="+mn-ea"/>
            </a:endParaRPr>
          </a:p>
          <a:p>
            <a:pPr algn="just">
              <a:lnSpc>
                <a:spcPct val="147000"/>
              </a:lnSpc>
            </a:pPr>
            <a:r>
              <a:rPr lang="zh-CN" altLang="zh-CN" sz="2000" b="1" kern="100" dirty="0">
                <a:effectLst/>
                <a:latin typeface="Calibri" panose="020F0502020204030204" pitchFamily="34" charset="0"/>
                <a:ea typeface="微软雅黑" panose="020B0503020204020204" pitchFamily="34" charset="-122"/>
                <a:cs typeface="Times New Roman" panose="02020603050405020304" pitchFamily="18" charset="0"/>
              </a:rPr>
              <a:t>【</a:t>
            </a:r>
            <a:r>
              <a:rPr lang="zh-CN" altLang="en-US" sz="2000" b="1" kern="100" dirty="0">
                <a:effectLst/>
                <a:latin typeface="Calibri" panose="020F0502020204030204" pitchFamily="34" charset="0"/>
                <a:ea typeface="微软雅黑" panose="020B0503020204020204" pitchFamily="34" charset="-122"/>
                <a:cs typeface="Times New Roman" panose="02020603050405020304" pitchFamily="18" charset="0"/>
              </a:rPr>
              <a:t>重点阐释</a:t>
            </a:r>
            <a:r>
              <a:rPr lang="zh-CN" altLang="zh-CN" sz="2000" b="1" kern="100" dirty="0">
                <a:effectLst/>
                <a:latin typeface="Calibri" panose="020F0502020204030204" pitchFamily="34" charset="0"/>
                <a:ea typeface="微软雅黑" panose="020B0503020204020204" pitchFamily="34" charset="-122"/>
                <a:cs typeface="Times New Roman" panose="02020603050405020304" pitchFamily="18" charset="0"/>
              </a:rPr>
              <a:t>】</a:t>
            </a:r>
            <a:endPar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47000"/>
              </a:lnSpc>
            </a:pPr>
            <a:r>
              <a:rPr lang="en-US" altLang="zh-CN" sz="2000" dirty="0">
                <a:latin typeface="微软雅黑" panose="020B0503020204020204" pitchFamily="34" charset="-122"/>
                <a:ea typeface="微软雅黑" panose="020B0503020204020204" pitchFamily="34" charset="-122"/>
                <a:sym typeface="+mn-ea"/>
              </a:rPr>
              <a:t>1.</a:t>
            </a:r>
            <a:r>
              <a:rPr lang="zh-CN" altLang="en-US" sz="2000" dirty="0">
                <a:latin typeface="微软雅黑" panose="020B0503020204020204" pitchFamily="34" charset="-122"/>
                <a:ea typeface="微软雅黑" panose="020B0503020204020204" pitchFamily="34" charset="-122"/>
              </a:rPr>
              <a:t>如何理解“两个大局”同步交织、相互激荡？</a:t>
            </a:r>
            <a:endParaRPr lang="zh-CN" altLang="en-US" sz="2000" dirty="0">
              <a:latin typeface="微软雅黑" panose="020B0503020204020204" pitchFamily="34" charset="-122"/>
              <a:ea typeface="微软雅黑" panose="020B0503020204020204" pitchFamily="34" charset="-122"/>
            </a:endParaRPr>
          </a:p>
          <a:p>
            <a:pPr algn="just">
              <a:lnSpc>
                <a:spcPct val="147000"/>
              </a:lnSpc>
            </a:pPr>
            <a:r>
              <a:rPr lang="en-US" altLang="zh-CN" sz="2000" dirty="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如何理解“两个结合”的根本途径？</a:t>
            </a:r>
            <a:endParaRPr lang="zh-CN" altLang="en-US" sz="2000" dirty="0">
              <a:latin typeface="微软雅黑" panose="020B0503020204020204" pitchFamily="34" charset="-122"/>
              <a:ea typeface="微软雅黑" panose="020B0503020204020204" pitchFamily="34" charset="-122"/>
            </a:endParaRPr>
          </a:p>
          <a:p>
            <a:pPr indent="0" algn="just" fontAlgn="auto">
              <a:lnSpc>
                <a:spcPct val="147000"/>
              </a:lnSpc>
              <a:buClrTx/>
              <a:buSzTx/>
              <a:buFontTx/>
              <a:buNone/>
            </a:pPr>
            <a:r>
              <a:rPr lang="en-US" altLang="zh-CN" sz="2000" dirty="0">
                <a:latin typeface="微软雅黑" panose="020B0503020204020204" pitchFamily="34" charset="-122"/>
                <a:ea typeface="微软雅黑" panose="020B0503020204020204" pitchFamily="34" charset="-122"/>
                <a:sym typeface="+mn-ea"/>
              </a:rPr>
              <a:t>3.</a:t>
            </a:r>
            <a:r>
              <a:rPr lang="zh-CN" altLang="zh-CN" sz="2000" dirty="0">
                <a:latin typeface="微软雅黑" panose="020B0503020204020204" pitchFamily="34" charset="-122"/>
                <a:ea typeface="微软雅黑" panose="020B0503020204020204" pitchFamily="34" charset="-122"/>
                <a:sym typeface="+mn-ea"/>
              </a:rPr>
              <a:t>如何理解习近平新时代中国特色社会主义思想</a:t>
            </a:r>
            <a:r>
              <a:rPr lang="zh-CN" altLang="en-US" sz="2000" dirty="0">
                <a:latin typeface="微软雅黑" panose="020B0503020204020204" pitchFamily="34" charset="-122"/>
                <a:ea typeface="微软雅黑" panose="020B0503020204020204" pitchFamily="34" charset="-122"/>
                <a:sym typeface="+mn-ea"/>
              </a:rPr>
              <a:t>回答</a:t>
            </a:r>
            <a:r>
              <a:rPr lang="zh-CN" altLang="zh-CN" sz="2000" dirty="0">
                <a:latin typeface="微软雅黑" panose="020B0503020204020204" pitchFamily="34" charset="-122"/>
                <a:ea typeface="微软雅黑" panose="020B0503020204020204" pitchFamily="34" charset="-122"/>
                <a:sym typeface="+mn-ea"/>
              </a:rPr>
              <a:t>的</a:t>
            </a:r>
            <a:r>
              <a:rPr lang="zh-CN" altLang="en-US" sz="2000" dirty="0">
                <a:latin typeface="微软雅黑" panose="020B0503020204020204" pitchFamily="34" charset="-122"/>
                <a:ea typeface="微软雅黑" panose="020B0503020204020204" pitchFamily="34" charset="-122"/>
                <a:sym typeface="+mn-ea"/>
              </a:rPr>
              <a:t>重大</a:t>
            </a:r>
            <a:r>
              <a:rPr lang="zh-CN" altLang="zh-CN" sz="2000" dirty="0">
                <a:latin typeface="微软雅黑" panose="020B0503020204020204" pitchFamily="34" charset="-122"/>
                <a:ea typeface="微软雅黑" panose="020B0503020204020204" pitchFamily="34" charset="-122"/>
                <a:sym typeface="+mn-ea"/>
              </a:rPr>
              <a:t>时代课题及其科学体系？</a:t>
            </a:r>
            <a:endParaRPr lang="en-US" altLang="zh-CN" sz="2000" dirty="0">
              <a:latin typeface="微软雅黑" panose="020B0503020204020204" pitchFamily="34" charset="-122"/>
              <a:ea typeface="微软雅黑" panose="020B0503020204020204" pitchFamily="34" charset="-122"/>
              <a:sym typeface="+mn-ea"/>
            </a:endParaRPr>
          </a:p>
          <a:p>
            <a:pPr indent="0" algn="just" fontAlgn="auto">
              <a:lnSpc>
                <a:spcPct val="147000"/>
              </a:lnSpc>
              <a:buClrTx/>
              <a:buSzTx/>
              <a:buFontTx/>
              <a:buNone/>
            </a:pPr>
            <a:r>
              <a:rPr lang="en-US" altLang="zh-CN" sz="2000" dirty="0">
                <a:latin typeface="微软雅黑" panose="020B0503020204020204" pitchFamily="34" charset="-122"/>
                <a:ea typeface="微软雅黑" panose="020B0503020204020204" pitchFamily="34" charset="-122"/>
                <a:sym typeface="+mn-ea"/>
              </a:rPr>
              <a:t>4.</a:t>
            </a:r>
            <a:r>
              <a:rPr lang="zh-CN" altLang="en-US" sz="2000" dirty="0">
                <a:latin typeface="微软雅黑" panose="020B0503020204020204" pitchFamily="34" charset="-122"/>
                <a:ea typeface="微软雅黑" panose="020B0503020204020204" pitchFamily="34" charset="-122"/>
                <a:sym typeface="+mn-ea"/>
              </a:rPr>
              <a:t>为什么说</a:t>
            </a:r>
            <a:r>
              <a:rPr lang="zh-CN" altLang="zh-CN" sz="2000" dirty="0">
                <a:latin typeface="微软雅黑" panose="020B0503020204020204" pitchFamily="34" charset="-122"/>
                <a:ea typeface="微软雅黑" panose="020B0503020204020204" pitchFamily="34" charset="-122"/>
                <a:sym typeface="+mn-ea"/>
              </a:rPr>
              <a:t>习近平新时代中国特色社会主义思想</a:t>
            </a:r>
            <a:r>
              <a:rPr lang="zh-CN" altLang="en-US" sz="2000" dirty="0">
                <a:latin typeface="微软雅黑" panose="020B0503020204020204" pitchFamily="34" charset="-122"/>
                <a:ea typeface="微软雅黑" panose="020B0503020204020204" pitchFamily="34" charset="-122"/>
                <a:sym typeface="+mn-ea"/>
              </a:rPr>
              <a:t>是</a:t>
            </a:r>
            <a:r>
              <a:rPr lang="zh-CN" altLang="en-US" sz="2000" dirty="0">
                <a:latin typeface="微软雅黑" panose="020B0503020204020204" pitchFamily="34" charset="-122"/>
                <a:ea typeface="微软雅黑" panose="020B0503020204020204" pitchFamily="34" charset="-122"/>
              </a:rPr>
              <a:t>当代中国马克思主义、二十一世纪马克思主义？</a:t>
            </a:r>
            <a:endParaRPr lang="en-US" altLang="zh-CN" sz="2000" dirty="0">
              <a:latin typeface="微软雅黑" panose="020B0503020204020204" pitchFamily="34" charset="-122"/>
              <a:ea typeface="微软雅黑" panose="020B0503020204020204" pitchFamily="34" charset="-122"/>
            </a:endParaRPr>
          </a:p>
          <a:p>
            <a:pPr indent="0" algn="just" fontAlgn="auto">
              <a:lnSpc>
                <a:spcPct val="147000"/>
              </a:lnSpc>
              <a:buClrTx/>
              <a:buSzTx/>
              <a:buFontTx/>
              <a:buNone/>
            </a:pPr>
            <a:r>
              <a:rPr lang="en-US" altLang="zh-CN" sz="2000" dirty="0">
                <a:latin typeface="微软雅黑" panose="020B0503020204020204" pitchFamily="34" charset="-122"/>
                <a:ea typeface="微软雅黑" panose="020B0503020204020204" pitchFamily="34" charset="-122"/>
                <a:sym typeface="+mn-ea"/>
              </a:rPr>
              <a:t>5.</a:t>
            </a:r>
            <a:r>
              <a:rPr lang="zh-CN" altLang="en-US" sz="2000" dirty="0">
                <a:latin typeface="微软雅黑" panose="020B0503020204020204" pitchFamily="34" charset="-122"/>
                <a:ea typeface="微软雅黑" panose="020B0503020204020204" pitchFamily="34" charset="-122"/>
                <a:sym typeface="+mn-ea"/>
              </a:rPr>
              <a:t>为什么说</a:t>
            </a:r>
            <a:r>
              <a:rPr lang="zh-CN" altLang="zh-CN" sz="2000" dirty="0">
                <a:latin typeface="微软雅黑" panose="020B0503020204020204" pitchFamily="34" charset="-122"/>
                <a:ea typeface="微软雅黑" panose="020B0503020204020204" pitchFamily="34" charset="-122"/>
                <a:sym typeface="+mn-ea"/>
              </a:rPr>
              <a:t>习近平新时代中国特色社会主义思想</a:t>
            </a:r>
            <a:r>
              <a:rPr lang="zh-CN" altLang="en-US" sz="2000" dirty="0">
                <a:latin typeface="微软雅黑" panose="020B0503020204020204" pitchFamily="34" charset="-122"/>
                <a:ea typeface="微软雅黑" panose="020B0503020204020204" pitchFamily="34" charset="-122"/>
                <a:sym typeface="+mn-ea"/>
              </a:rPr>
              <a:t>是</a:t>
            </a:r>
            <a:r>
              <a:rPr lang="zh-CN" altLang="en-US" sz="2000" dirty="0">
                <a:latin typeface="微软雅黑" panose="020B0503020204020204" pitchFamily="34" charset="-122"/>
                <a:ea typeface="微软雅黑" panose="020B0503020204020204" pitchFamily="34" charset="-122"/>
              </a:rPr>
              <a:t>中华文化和中国精神的时代精华？</a:t>
            </a:r>
            <a:endParaRPr lang="en-US" altLang="zh-CN" sz="2000" dirty="0">
              <a:latin typeface="微软雅黑" panose="020B0503020204020204" pitchFamily="34" charset="-122"/>
              <a:ea typeface="微软雅黑" panose="020B0503020204020204" pitchFamily="34" charset="-122"/>
              <a:sym typeface="+mn-ea"/>
            </a:endParaRPr>
          </a:p>
          <a:p>
            <a:pPr indent="0" algn="just" fontAlgn="auto">
              <a:lnSpc>
                <a:spcPct val="147000"/>
              </a:lnSpc>
              <a:buClrTx/>
              <a:buSzTx/>
              <a:buFontTx/>
              <a:buNone/>
            </a:pPr>
            <a:r>
              <a:rPr lang="en-US" altLang="zh-CN" sz="2000" dirty="0">
                <a:latin typeface="微软雅黑" panose="020B0503020204020204" pitchFamily="34" charset="-122"/>
                <a:ea typeface="微软雅黑" panose="020B0503020204020204" pitchFamily="34" charset="-122"/>
                <a:sym typeface="+mn-ea"/>
              </a:rPr>
              <a:t>6.</a:t>
            </a:r>
            <a:r>
              <a:rPr lang="zh-CN" altLang="en-US" sz="2000" dirty="0">
                <a:latin typeface="微软雅黑" panose="020B0503020204020204" pitchFamily="34" charset="-122"/>
                <a:ea typeface="微软雅黑" panose="020B0503020204020204" pitchFamily="34" charset="-122"/>
                <a:sym typeface="+mn-ea"/>
              </a:rPr>
              <a:t>如何理解</a:t>
            </a:r>
            <a:r>
              <a:rPr lang="zh-CN" altLang="zh-CN" sz="2000" dirty="0">
                <a:latin typeface="微软雅黑" panose="020B0503020204020204" pitchFamily="34" charset="-122"/>
                <a:ea typeface="微软雅黑" panose="020B0503020204020204" pitchFamily="34" charset="-122"/>
                <a:sym typeface="+mn-ea"/>
              </a:rPr>
              <a:t>习近平新时代中国特色社会主义思想实现了马克思主义中国化时代化新的飞跃？</a:t>
            </a:r>
            <a:endParaRPr lang="zh-CN" altLang="zh-CN" sz="2000" dirty="0">
              <a:latin typeface="微软雅黑" panose="020B0503020204020204" pitchFamily="34" charset="-122"/>
              <a:ea typeface="微软雅黑" panose="020B0503020204020204" pitchFamily="34" charset="-122"/>
            </a:endParaRPr>
          </a:p>
        </p:txBody>
      </p:sp>
      <p:sp>
        <p:nvSpPr>
          <p:cNvPr id="4" name="对角圆角矩形 3"/>
          <p:cNvSpPr/>
          <p:nvPr/>
        </p:nvSpPr>
        <p:spPr>
          <a:xfrm flipH="1">
            <a:off x="1415480" y="332656"/>
            <a:ext cx="9073008" cy="576064"/>
          </a:xfrm>
          <a:prstGeom prst="round2DiagRect">
            <a:avLst/>
          </a:prstGeom>
          <a:gradFill>
            <a:gsLst>
              <a:gs pos="0">
                <a:srgbClr val="C00000"/>
              </a:gs>
              <a:gs pos="100000">
                <a:srgbClr val="AC251C"/>
              </a:gs>
            </a:gsLst>
            <a:lin ang="0" scaled="0"/>
          </a:gradFill>
          <a:ln>
            <a:noFill/>
          </a:ln>
          <a:effectLst>
            <a:outerShdw blurRad="50800" dist="38100" algn="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导论</a:t>
            </a:r>
            <a:endParaRPr kumimoji="1" lang="zh-CN" altLang="en-US"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85028" y="1523455"/>
            <a:ext cx="10821944" cy="5063490"/>
          </a:xfrm>
          <a:prstGeom prst="rect">
            <a:avLst/>
          </a:prstGeom>
          <a:noFill/>
        </p:spPr>
        <p:txBody>
          <a:bodyPr wrap="square">
            <a:spAutoFit/>
          </a:bodyPr>
          <a:lstStyle/>
          <a:p>
            <a:pPr algn="just">
              <a:lnSpc>
                <a:spcPct val="147000"/>
              </a:lnSpc>
            </a:pPr>
            <a:r>
              <a:rPr lang="zh-CN" altLang="zh-CN" sz="2000" b="1" kern="100" dirty="0">
                <a:effectLst/>
                <a:latin typeface="Calibri" panose="020F0502020204030204" pitchFamily="34" charset="0"/>
                <a:ea typeface="微软雅黑" panose="020B0503020204020204" pitchFamily="34" charset="-122"/>
                <a:cs typeface="Times New Roman" panose="02020603050405020304" pitchFamily="18" charset="0"/>
              </a:rPr>
              <a:t>【</a:t>
            </a:r>
            <a:r>
              <a:rPr lang="zh-CN" altLang="en-US" sz="2000" b="1" kern="100" dirty="0">
                <a:effectLst/>
                <a:latin typeface="Calibri" panose="020F0502020204030204" pitchFamily="34" charset="0"/>
                <a:ea typeface="微软雅黑" panose="020B0503020204020204" pitchFamily="34" charset="-122"/>
                <a:cs typeface="Times New Roman" panose="02020603050405020304" pitchFamily="18" charset="0"/>
              </a:rPr>
              <a:t>重点识记</a:t>
            </a:r>
            <a:r>
              <a:rPr lang="zh-CN" altLang="zh-CN" sz="2000" b="1" kern="100" dirty="0">
                <a:effectLst/>
                <a:latin typeface="Calibri" panose="020F0502020204030204" pitchFamily="34" charset="0"/>
                <a:ea typeface="微软雅黑" panose="020B0503020204020204" pitchFamily="34" charset="-122"/>
                <a:cs typeface="Times New Roman" panose="02020603050405020304" pitchFamily="18" charset="0"/>
              </a:rPr>
              <a:t>】</a:t>
            </a:r>
            <a:endPar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47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1.</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rPr>
              <a:t>中国特色社会主义是历史和人民的选择</a:t>
            </a:r>
            <a:endParaRPr lang="en-US" altLang="zh-CN" sz="2000" kern="100" dirty="0">
              <a:latin typeface="Calibri" panose="020F0502020204030204" pitchFamily="34" charset="0"/>
              <a:ea typeface="微软雅黑" panose="020B0503020204020204" pitchFamily="34" charset="-122"/>
              <a:cs typeface="Times New Roman" panose="02020603050405020304" pitchFamily="18" charset="0"/>
            </a:endParaRPr>
          </a:p>
          <a:p>
            <a:pPr algn="just">
              <a:lnSpc>
                <a:spcPct val="147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2.</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rPr>
              <a:t>中国特色社会主义新时代的科学内涵</a:t>
            </a:r>
            <a:endParaRPr lang="en-US" altLang="zh-CN" sz="2000" kern="100" dirty="0">
              <a:latin typeface="Calibri" panose="020F0502020204030204" pitchFamily="34" charset="0"/>
              <a:ea typeface="微软雅黑" panose="020B0503020204020204" pitchFamily="34" charset="-122"/>
              <a:cs typeface="Times New Roman" panose="02020603050405020304" pitchFamily="18" charset="0"/>
            </a:endParaRPr>
          </a:p>
          <a:p>
            <a:pPr algn="just">
              <a:lnSpc>
                <a:spcPct val="147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3.</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rPr>
              <a:t>新时代伟大变革及其里程碑意义</a:t>
            </a:r>
            <a:endParaRPr lang="en-US" altLang="zh-CN" sz="2000" kern="100" dirty="0">
              <a:latin typeface="Calibri" panose="020F0502020204030204" pitchFamily="34" charset="0"/>
              <a:ea typeface="微软雅黑" panose="020B0503020204020204" pitchFamily="34" charset="-122"/>
              <a:cs typeface="Times New Roman" panose="02020603050405020304" pitchFamily="18" charset="0"/>
            </a:endParaRPr>
          </a:p>
          <a:p>
            <a:pPr algn="just">
              <a:lnSpc>
                <a:spcPct val="147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4.</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rPr>
              <a:t>全面贯彻党的基本理论、基本路线、基本方略</a:t>
            </a:r>
            <a:endParaRPr lang="en-US" altLang="zh-CN" sz="2000" kern="100" dirty="0">
              <a:latin typeface="Calibri" panose="020F0502020204030204" pitchFamily="34" charset="0"/>
              <a:ea typeface="微软雅黑" panose="020B0503020204020204" pitchFamily="34" charset="-122"/>
              <a:cs typeface="Times New Roman" panose="02020603050405020304" pitchFamily="18" charset="0"/>
            </a:endParaRPr>
          </a:p>
          <a:p>
            <a:pPr algn="just">
              <a:lnSpc>
                <a:spcPct val="147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5.</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rPr>
              <a:t>统筹推进“五位一体”总体布局和协调推进“四个全面”战略布局</a:t>
            </a:r>
            <a:endParaRPr lang="en-US" altLang="zh-CN" sz="2000" kern="100" dirty="0">
              <a:latin typeface="Calibri" panose="020F0502020204030204" pitchFamily="34" charset="0"/>
              <a:ea typeface="微软雅黑" panose="020B0503020204020204" pitchFamily="34" charset="-122"/>
              <a:cs typeface="Times New Roman" panose="02020603050405020304" pitchFamily="18" charset="0"/>
            </a:endParaRPr>
          </a:p>
          <a:p>
            <a:pPr algn="just">
              <a:lnSpc>
                <a:spcPct val="147000"/>
              </a:lnSpc>
            </a:pPr>
            <a:r>
              <a:rPr lang="zh-CN" altLang="zh-CN" sz="2000" b="1" kern="100" dirty="0">
                <a:effectLst/>
                <a:latin typeface="Calibri" panose="020F0502020204030204" pitchFamily="34" charset="0"/>
                <a:ea typeface="微软雅黑" panose="020B0503020204020204" pitchFamily="34" charset="-122"/>
                <a:cs typeface="Times New Roman" panose="02020603050405020304" pitchFamily="18" charset="0"/>
              </a:rPr>
              <a:t>【</a:t>
            </a:r>
            <a:r>
              <a:rPr lang="zh-CN" altLang="en-US" sz="2000" b="1" kern="100" dirty="0">
                <a:effectLst/>
                <a:latin typeface="Calibri" panose="020F0502020204030204" pitchFamily="34" charset="0"/>
                <a:ea typeface="微软雅黑" panose="020B0503020204020204" pitchFamily="34" charset="-122"/>
                <a:cs typeface="Times New Roman" panose="02020603050405020304" pitchFamily="18" charset="0"/>
              </a:rPr>
              <a:t>重点阐释</a:t>
            </a:r>
            <a:r>
              <a:rPr lang="zh-CN" altLang="zh-CN" sz="2000" b="1" kern="100" dirty="0">
                <a:effectLst/>
                <a:latin typeface="Calibri" panose="020F0502020204030204" pitchFamily="34" charset="0"/>
                <a:ea typeface="微软雅黑" panose="020B0503020204020204" pitchFamily="34" charset="-122"/>
                <a:cs typeface="Times New Roman" panose="02020603050405020304" pitchFamily="18" charset="0"/>
              </a:rPr>
              <a:t>】</a:t>
            </a:r>
            <a:endPar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47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1.</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rPr>
              <a:t>为什么说</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sym typeface="+mn-ea"/>
              </a:rPr>
              <a:t>中国特色社会主义具有深厚的历史渊源和广泛的现实基础？</a:t>
            </a:r>
            <a:endParaRPr lang="en-US" altLang="zh-CN" sz="2000" kern="100" dirty="0">
              <a:latin typeface="Calibri" panose="020F0502020204030204" pitchFamily="34" charset="0"/>
              <a:ea typeface="微软雅黑" panose="020B0503020204020204" pitchFamily="34" charset="-122"/>
              <a:cs typeface="Times New Roman" panose="02020603050405020304" pitchFamily="18" charset="0"/>
              <a:sym typeface="+mn-ea"/>
            </a:endParaRPr>
          </a:p>
          <a:p>
            <a:pPr algn="just">
              <a:lnSpc>
                <a:spcPct val="147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2.</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rPr>
              <a:t>为什么要坚定中国特色社会主义道路自信、理论自信、制度自信和文化自信？</a:t>
            </a:r>
            <a:endParaRPr lang="zh-CN" altLang="en-US" sz="2000" kern="100" dirty="0">
              <a:latin typeface="Calibri" panose="020F0502020204030204" pitchFamily="34" charset="0"/>
              <a:ea typeface="微软雅黑" panose="020B0503020204020204" pitchFamily="34" charset="-122"/>
              <a:cs typeface="Times New Roman" panose="02020603050405020304" pitchFamily="18" charset="0"/>
            </a:endParaRPr>
          </a:p>
          <a:p>
            <a:pPr algn="just">
              <a:lnSpc>
                <a:spcPct val="147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3.</a:t>
            </a:r>
            <a:r>
              <a:rPr lang="zh-CN" altLang="zh-CN" sz="2000" kern="100" dirty="0">
                <a:latin typeface="Calibri" panose="020F0502020204030204" pitchFamily="34" charset="0"/>
                <a:ea typeface="微软雅黑" panose="020B0503020204020204" pitchFamily="34" charset="-122"/>
                <a:cs typeface="Times New Roman" panose="02020603050405020304" pitchFamily="18" charset="0"/>
              </a:rPr>
              <a:t>中国特色社会主义进入新时代的依据是什么？</a:t>
            </a:r>
            <a:endParaRPr lang="en-US" altLang="zh-CN" sz="2000" kern="100" dirty="0">
              <a:latin typeface="Calibri" panose="020F0502020204030204" pitchFamily="34" charset="0"/>
              <a:ea typeface="微软雅黑" panose="020B0503020204020204" pitchFamily="34" charset="-122"/>
              <a:cs typeface="Times New Roman" panose="02020603050405020304" pitchFamily="18" charset="0"/>
            </a:endParaRPr>
          </a:p>
          <a:p>
            <a:pPr algn="just">
              <a:lnSpc>
                <a:spcPct val="147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4.</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rPr>
              <a:t>如何在批判错误思潮中正确认识和把握事关中国特色社会主义性质和方向的重大问题？</a:t>
            </a:r>
            <a:endParaRPr lang="en-US" altLang="zh-CN" sz="2000" kern="100" dirty="0">
              <a:latin typeface="Calibri" panose="020F0502020204030204" pitchFamily="34" charset="0"/>
              <a:ea typeface="微软雅黑" panose="020B0503020204020204" pitchFamily="34" charset="-122"/>
              <a:cs typeface="Times New Roman" panose="02020603050405020304" pitchFamily="18" charset="0"/>
            </a:endParaRPr>
          </a:p>
        </p:txBody>
      </p:sp>
      <p:sp>
        <p:nvSpPr>
          <p:cNvPr id="4" name="对角圆角矩形 3"/>
          <p:cNvSpPr/>
          <p:nvPr/>
        </p:nvSpPr>
        <p:spPr>
          <a:xfrm flipH="1">
            <a:off x="1415480" y="620688"/>
            <a:ext cx="9073008" cy="703072"/>
          </a:xfrm>
          <a:prstGeom prst="round2DiagRect">
            <a:avLst/>
          </a:prstGeom>
          <a:gradFill>
            <a:gsLst>
              <a:gs pos="0">
                <a:srgbClr val="C00000"/>
              </a:gs>
              <a:gs pos="100000">
                <a:srgbClr val="AC251C"/>
              </a:gs>
            </a:gsLst>
            <a:lin ang="0" scaled="0"/>
          </a:gradFill>
          <a:ln>
            <a:noFill/>
          </a:ln>
          <a:effectLst>
            <a:outerShdw blurRad="50800" dist="38100" algn="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第一章</a:t>
            </a:r>
            <a:r>
              <a:rPr kumimoji="1" lang="en-US" altLang="zh-CN"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kumimoji="1" lang="zh-CN" altLang="en-US"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新时代坚持和发展中国特色社会主义</a:t>
            </a:r>
            <a:endParaRPr kumimoji="1" lang="zh-CN" altLang="en-US"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85028" y="1625791"/>
            <a:ext cx="10821944" cy="4467505"/>
          </a:xfrm>
          <a:prstGeom prst="rect">
            <a:avLst/>
          </a:prstGeom>
          <a:noFill/>
        </p:spPr>
        <p:txBody>
          <a:bodyPr wrap="square">
            <a:spAutoFit/>
          </a:bodyPr>
          <a:lstStyle/>
          <a:p>
            <a:pPr algn="just">
              <a:lnSpc>
                <a:spcPct val="160000"/>
              </a:lnSpc>
            </a:pPr>
            <a:r>
              <a:rPr lang="zh-CN" altLang="zh-CN" sz="2000" b="1" kern="100" dirty="0">
                <a:effectLst/>
                <a:latin typeface="Calibri" panose="020F0502020204030204" pitchFamily="34" charset="0"/>
                <a:ea typeface="微软雅黑" panose="020B0503020204020204" pitchFamily="34" charset="-122"/>
                <a:cs typeface="Times New Roman" panose="02020603050405020304" pitchFamily="18" charset="0"/>
              </a:rPr>
              <a:t>【</a:t>
            </a:r>
            <a:r>
              <a:rPr lang="zh-CN" altLang="en-US" sz="2000" b="1" kern="100" dirty="0">
                <a:effectLst/>
                <a:latin typeface="Calibri" panose="020F0502020204030204" pitchFamily="34" charset="0"/>
                <a:ea typeface="微软雅黑" panose="020B0503020204020204" pitchFamily="34" charset="-122"/>
                <a:cs typeface="Times New Roman" panose="02020603050405020304" pitchFamily="18" charset="0"/>
              </a:rPr>
              <a:t>重点识记</a:t>
            </a:r>
            <a:r>
              <a:rPr lang="zh-CN" altLang="zh-CN" sz="2000" b="1" kern="100" dirty="0">
                <a:effectLst/>
                <a:latin typeface="Calibri" panose="020F0502020204030204" pitchFamily="34" charset="0"/>
                <a:ea typeface="微软雅黑" panose="020B0503020204020204" pitchFamily="34" charset="-122"/>
                <a:cs typeface="Times New Roman" panose="02020603050405020304" pitchFamily="18" charset="0"/>
              </a:rPr>
              <a:t>】</a:t>
            </a:r>
            <a:endPar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60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1.</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rPr>
              <a:t>中华民族伟大复兴中国梦的内涵</a:t>
            </a:r>
            <a:endParaRPr lang="en-US" altLang="zh-CN" sz="2000" kern="100" dirty="0">
              <a:latin typeface="Calibri" panose="020F0502020204030204" pitchFamily="34" charset="0"/>
              <a:ea typeface="微软雅黑" panose="020B0503020204020204" pitchFamily="34" charset="-122"/>
              <a:cs typeface="Times New Roman" panose="02020603050405020304" pitchFamily="18" charset="0"/>
            </a:endParaRPr>
          </a:p>
          <a:p>
            <a:pPr algn="just">
              <a:lnSpc>
                <a:spcPct val="160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2.</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rPr>
              <a:t>全面建成小康社会的里程碑意义</a:t>
            </a:r>
            <a:endParaRPr lang="en-US" altLang="zh-CN" sz="2000" kern="100" dirty="0">
              <a:latin typeface="Calibri" panose="020F0502020204030204" pitchFamily="34" charset="0"/>
              <a:ea typeface="微软雅黑" panose="020B0503020204020204" pitchFamily="34" charset="-122"/>
              <a:cs typeface="Times New Roman" panose="02020603050405020304" pitchFamily="18" charset="0"/>
            </a:endParaRPr>
          </a:p>
          <a:p>
            <a:pPr algn="just">
              <a:lnSpc>
                <a:spcPct val="160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3.</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rPr>
              <a:t>中国式现代化的中国特色、本质要求和重大原则</a:t>
            </a:r>
            <a:endParaRPr lang="en-US" altLang="zh-CN" sz="2000" kern="100" dirty="0">
              <a:latin typeface="Calibri" panose="020F0502020204030204" pitchFamily="34" charset="0"/>
              <a:ea typeface="微软雅黑" panose="020B0503020204020204" pitchFamily="34" charset="-122"/>
              <a:cs typeface="Times New Roman" panose="02020603050405020304" pitchFamily="18" charset="0"/>
            </a:endParaRPr>
          </a:p>
          <a:p>
            <a:pPr algn="just">
              <a:lnSpc>
                <a:spcPct val="160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4.</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rPr>
              <a:t>推进中国式现代化需要正确处理的重大关系</a:t>
            </a:r>
            <a:endParaRPr lang="en-US" altLang="zh-CN" sz="2000" kern="100" dirty="0">
              <a:latin typeface="Calibri" panose="020F0502020204030204" pitchFamily="34" charset="0"/>
              <a:ea typeface="微软雅黑" panose="020B0503020204020204" pitchFamily="34" charset="-122"/>
              <a:cs typeface="Times New Roman" panose="02020603050405020304" pitchFamily="18" charset="0"/>
            </a:endParaRPr>
          </a:p>
          <a:p>
            <a:pPr algn="just">
              <a:lnSpc>
                <a:spcPct val="160000"/>
              </a:lnSpc>
            </a:pPr>
            <a:r>
              <a:rPr lang="zh-CN" altLang="zh-CN" sz="2000" b="1" kern="100" dirty="0">
                <a:effectLst/>
                <a:latin typeface="Calibri" panose="020F0502020204030204" pitchFamily="34" charset="0"/>
                <a:ea typeface="微软雅黑" panose="020B0503020204020204" pitchFamily="34" charset="-122"/>
                <a:cs typeface="Times New Roman" panose="02020603050405020304" pitchFamily="18" charset="0"/>
              </a:rPr>
              <a:t>【</a:t>
            </a:r>
            <a:r>
              <a:rPr lang="zh-CN" altLang="en-US" sz="2000" b="1" kern="100" dirty="0">
                <a:effectLst/>
                <a:latin typeface="Calibri" panose="020F0502020204030204" pitchFamily="34" charset="0"/>
                <a:ea typeface="微软雅黑" panose="020B0503020204020204" pitchFamily="34" charset="-122"/>
                <a:cs typeface="Times New Roman" panose="02020603050405020304" pitchFamily="18" charset="0"/>
              </a:rPr>
              <a:t>重点阐释</a:t>
            </a:r>
            <a:r>
              <a:rPr lang="zh-CN" altLang="zh-CN" sz="2000" b="1" kern="100" dirty="0">
                <a:effectLst/>
                <a:latin typeface="Calibri" panose="020F0502020204030204" pitchFamily="34" charset="0"/>
                <a:ea typeface="微软雅黑" panose="020B0503020204020204" pitchFamily="34" charset="-122"/>
                <a:cs typeface="Times New Roman" panose="02020603050405020304" pitchFamily="18" charset="0"/>
              </a:rPr>
              <a:t>】</a:t>
            </a:r>
            <a:endPar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60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1.</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rPr>
              <a:t>为什么说实现中华民族伟大复兴进入了不可逆转的历史进程</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sym typeface="+mn-ea"/>
              </a:rPr>
              <a:t>？</a:t>
            </a:r>
            <a:endParaRPr lang="zh-CN" altLang="en-US" sz="2000" kern="100" dirty="0">
              <a:latin typeface="Calibri" panose="020F0502020204030204" pitchFamily="34" charset="0"/>
              <a:ea typeface="微软雅黑" panose="020B0503020204020204" pitchFamily="34" charset="-122"/>
              <a:cs typeface="Times New Roman" panose="02020603050405020304" pitchFamily="18" charset="0"/>
            </a:endParaRPr>
          </a:p>
          <a:p>
            <a:pPr algn="just">
              <a:lnSpc>
                <a:spcPct val="160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2.</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rPr>
              <a:t>如何理解中国式现代化的中国特色和本质要求</a:t>
            </a:r>
            <a:r>
              <a:rPr lang="zh-CN" altLang="zh-CN" sz="2000" kern="100" dirty="0">
                <a:latin typeface="Calibri" panose="020F0502020204030204" pitchFamily="34" charset="0"/>
                <a:ea typeface="微软雅黑" panose="020B0503020204020204" pitchFamily="34" charset="-122"/>
                <a:cs typeface="Times New Roman" panose="02020603050405020304" pitchFamily="18" charset="0"/>
              </a:rPr>
              <a:t>？</a:t>
            </a:r>
            <a:endParaRPr lang="en-US" altLang="zh-CN" sz="2000" kern="100" dirty="0">
              <a:latin typeface="Calibri" panose="020F0502020204030204" pitchFamily="34" charset="0"/>
              <a:ea typeface="微软雅黑" panose="020B0503020204020204" pitchFamily="34" charset="-122"/>
              <a:cs typeface="Times New Roman" panose="02020603050405020304" pitchFamily="18" charset="0"/>
            </a:endParaRPr>
          </a:p>
          <a:p>
            <a:pPr algn="just">
              <a:lnSpc>
                <a:spcPct val="160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3.</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rPr>
              <a:t>为什么说中国式现代化创造了人类文明新形态？</a:t>
            </a:r>
            <a:endParaRPr lang="zh-CN" altLang="en-US" sz="2000" kern="100" dirty="0">
              <a:latin typeface="Calibri" panose="020F0502020204030204" pitchFamily="34" charset="0"/>
              <a:ea typeface="微软雅黑" panose="020B0503020204020204" pitchFamily="34" charset="-122"/>
              <a:cs typeface="Times New Roman" panose="02020603050405020304" pitchFamily="18" charset="0"/>
            </a:endParaRPr>
          </a:p>
        </p:txBody>
      </p:sp>
      <p:sp>
        <p:nvSpPr>
          <p:cNvPr id="4" name="对角圆角矩形 3"/>
          <p:cNvSpPr/>
          <p:nvPr/>
        </p:nvSpPr>
        <p:spPr>
          <a:xfrm flipH="1">
            <a:off x="1415480" y="764704"/>
            <a:ext cx="9073008" cy="703072"/>
          </a:xfrm>
          <a:prstGeom prst="round2DiagRect">
            <a:avLst/>
          </a:prstGeom>
          <a:gradFill>
            <a:gsLst>
              <a:gs pos="0">
                <a:srgbClr val="C00000"/>
              </a:gs>
              <a:gs pos="100000">
                <a:srgbClr val="AC251C"/>
              </a:gs>
            </a:gsLst>
            <a:lin ang="0" scaled="0"/>
          </a:gradFill>
          <a:ln>
            <a:noFill/>
          </a:ln>
          <a:effectLst>
            <a:outerShdw blurRad="50800" dist="38100" algn="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第二章</a:t>
            </a:r>
            <a:r>
              <a:rPr kumimoji="1" lang="en-US" altLang="zh-CN"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kumimoji="1" lang="zh-CN" altLang="en-US"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以中国式现代化全面推进中华民族伟大复兴</a:t>
            </a:r>
            <a:endParaRPr kumimoji="1" lang="zh-CN" altLang="en-US"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62685" y="1468120"/>
            <a:ext cx="10279380" cy="5041265"/>
          </a:xfrm>
          <a:prstGeom prst="rect">
            <a:avLst/>
          </a:prstGeom>
          <a:noFill/>
        </p:spPr>
        <p:txBody>
          <a:bodyPr wrap="square">
            <a:noAutofit/>
          </a:bodyPr>
          <a:lstStyle/>
          <a:p>
            <a:pPr algn="just">
              <a:lnSpc>
                <a:spcPct val="200000"/>
              </a:lnSpc>
            </a:pPr>
            <a:r>
              <a:rPr lang="zh-CN" altLang="zh-CN" sz="2000" b="1" kern="100" dirty="0">
                <a:effectLst/>
                <a:latin typeface="Calibri" panose="020F0502020204030204" pitchFamily="34" charset="0"/>
                <a:ea typeface="微软雅黑" panose="020B0503020204020204" pitchFamily="34" charset="-122"/>
                <a:cs typeface="Times New Roman" panose="02020603050405020304" pitchFamily="18" charset="0"/>
              </a:rPr>
              <a:t>【重点识记】</a:t>
            </a:r>
            <a:endPar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60000"/>
              </a:lnSpc>
              <a:buClrTx/>
              <a:buSzTx/>
              <a:buNone/>
            </a:pP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rPr>
              <a:t>1.中国共产党领导是中国特色社会主义最本质的特征</a:t>
            </a:r>
            <a:endParaRPr lang="zh-CN" altLang="en-US" sz="2000" kern="100" dirty="0">
              <a:latin typeface="Calibri" panose="020F0502020204030204" pitchFamily="34" charset="0"/>
              <a:ea typeface="微软雅黑" panose="020B0503020204020204" pitchFamily="34" charset="-122"/>
              <a:cs typeface="Times New Roman" panose="02020603050405020304" pitchFamily="18" charset="0"/>
            </a:endParaRPr>
          </a:p>
          <a:p>
            <a:pPr algn="just">
              <a:lnSpc>
                <a:spcPct val="160000"/>
              </a:lnSpc>
              <a:buClrTx/>
              <a:buSzTx/>
              <a:buNone/>
            </a:pP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rPr>
              <a:t>2.党的领导是全面的、系统的、整体的</a:t>
            </a:r>
            <a:endParaRPr lang="zh-CN" altLang="en-US" sz="2000" kern="100" dirty="0">
              <a:latin typeface="Calibri" panose="020F0502020204030204" pitchFamily="34" charset="0"/>
              <a:ea typeface="微软雅黑" panose="020B0503020204020204" pitchFamily="34" charset="-122"/>
              <a:cs typeface="Times New Roman" panose="02020603050405020304" pitchFamily="18" charset="0"/>
            </a:endParaRPr>
          </a:p>
          <a:p>
            <a:pPr algn="just">
              <a:lnSpc>
                <a:spcPct val="160000"/>
              </a:lnSpc>
              <a:buClrTx/>
              <a:buSzTx/>
              <a:buNone/>
            </a:pP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rPr>
              <a:t>3.维护党中央权威和集中统一领导的重大意义和实践要求</a:t>
            </a:r>
            <a:endParaRPr lang="zh-CN" altLang="en-US" sz="2000" kern="100" dirty="0">
              <a:latin typeface="Calibri" panose="020F0502020204030204" pitchFamily="34" charset="0"/>
              <a:ea typeface="微软雅黑" panose="020B0503020204020204" pitchFamily="34" charset="-122"/>
              <a:cs typeface="Times New Roman" panose="02020603050405020304" pitchFamily="18" charset="0"/>
            </a:endParaRPr>
          </a:p>
          <a:p>
            <a:pPr algn="just">
              <a:lnSpc>
                <a:spcPct val="160000"/>
              </a:lnSpc>
              <a:buClrTx/>
              <a:buSzTx/>
              <a:buNone/>
            </a:pP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rPr>
              <a:t>4.党的领导制度是我国的根本领导制度</a:t>
            </a:r>
            <a:endParaRPr lang="en-US" altLang="zh-CN" sz="2000" kern="100" dirty="0">
              <a:latin typeface="Calibri" panose="020F0502020204030204" pitchFamily="34" charset="0"/>
              <a:ea typeface="微软雅黑" panose="020B0503020204020204" pitchFamily="34" charset="-122"/>
              <a:cs typeface="Times New Roman" panose="02020603050405020304" pitchFamily="18" charset="0"/>
            </a:endParaRPr>
          </a:p>
          <a:p>
            <a:pPr algn="just">
              <a:lnSpc>
                <a:spcPct val="200000"/>
              </a:lnSpc>
            </a:pPr>
            <a:r>
              <a:rPr lang="zh-CN" altLang="zh-CN" sz="2000" b="1" kern="100" dirty="0">
                <a:effectLst/>
                <a:latin typeface="Calibri" panose="020F0502020204030204" pitchFamily="34" charset="0"/>
                <a:ea typeface="微软雅黑" panose="020B0503020204020204" pitchFamily="34" charset="-122"/>
                <a:cs typeface="Times New Roman" panose="02020603050405020304" pitchFamily="18" charset="0"/>
              </a:rPr>
              <a:t>【重点阐释】</a:t>
            </a:r>
            <a:endPar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60000"/>
              </a:lnSpc>
              <a:buClrTx/>
              <a:buSzTx/>
              <a:buNone/>
            </a:pP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sym typeface="+mn-ea"/>
              </a:rPr>
              <a:t>1.为什么说中国共产党领导是中国特色社会主义制度的最大优势？</a:t>
            </a:r>
            <a:endParaRPr lang="zh-CN" altLang="en-US" sz="2000" kern="100" dirty="0">
              <a:latin typeface="Calibri" panose="020F0502020204030204" pitchFamily="34" charset="0"/>
              <a:ea typeface="微软雅黑" panose="020B0503020204020204" pitchFamily="34" charset="-122"/>
              <a:cs typeface="Times New Roman" panose="02020603050405020304" pitchFamily="18" charset="0"/>
              <a:sym typeface="+mn-ea"/>
            </a:endParaRPr>
          </a:p>
          <a:p>
            <a:pPr algn="just">
              <a:lnSpc>
                <a:spcPct val="160000"/>
              </a:lnSpc>
              <a:buClrTx/>
              <a:buSzTx/>
              <a:buNone/>
            </a:pP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sym typeface="+mn-ea"/>
              </a:rPr>
              <a:t>2.如何理解党是最高政治领导力量？</a:t>
            </a:r>
            <a:endParaRPr lang="zh-CN" altLang="en-US" sz="2000" kern="100" dirty="0">
              <a:latin typeface="Calibri" panose="020F0502020204030204" pitchFamily="34" charset="0"/>
              <a:ea typeface="微软雅黑" panose="020B0503020204020204" pitchFamily="34" charset="-122"/>
              <a:cs typeface="Times New Roman" panose="02020603050405020304" pitchFamily="18" charset="0"/>
              <a:sym typeface="+mn-ea"/>
            </a:endParaRPr>
          </a:p>
          <a:p>
            <a:pPr algn="just">
              <a:lnSpc>
                <a:spcPct val="160000"/>
              </a:lnSpc>
              <a:buClrTx/>
              <a:buSzTx/>
              <a:buNone/>
            </a:pP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sym typeface="+mn-ea"/>
              </a:rPr>
              <a:t>3.如何理解党的领导是全面的、系统的、整体的？</a:t>
            </a:r>
            <a:endParaRPr lang="zh-CN" altLang="en-US" sz="2000" kern="100" dirty="0">
              <a:latin typeface="Calibri" panose="020F0502020204030204" pitchFamily="34" charset="0"/>
              <a:ea typeface="微软雅黑" panose="020B0503020204020204" pitchFamily="34" charset="-122"/>
              <a:cs typeface="Times New Roman" panose="02020603050405020304" pitchFamily="18" charset="0"/>
            </a:endParaRPr>
          </a:p>
        </p:txBody>
      </p:sp>
      <p:sp>
        <p:nvSpPr>
          <p:cNvPr id="4" name="对角圆角矩形 3"/>
          <p:cNvSpPr/>
          <p:nvPr/>
        </p:nvSpPr>
        <p:spPr>
          <a:xfrm flipH="1">
            <a:off x="1415480" y="764704"/>
            <a:ext cx="9073008" cy="703072"/>
          </a:xfrm>
          <a:prstGeom prst="round2DiagRect">
            <a:avLst/>
          </a:prstGeom>
          <a:gradFill>
            <a:gsLst>
              <a:gs pos="0">
                <a:srgbClr val="C00000"/>
              </a:gs>
              <a:gs pos="100000">
                <a:srgbClr val="AC251C"/>
              </a:gs>
            </a:gsLst>
            <a:lin ang="0" scaled="0"/>
          </a:gradFill>
          <a:ln>
            <a:noFill/>
          </a:ln>
          <a:effectLst>
            <a:outerShdw blurRad="50800" dist="38100" algn="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第三章</a:t>
            </a:r>
            <a:r>
              <a:rPr kumimoji="1" lang="en-US" altLang="zh-CN"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kumimoji="1" lang="zh-CN" altLang="en-US"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坚持党的全面领导</a:t>
            </a:r>
            <a:endParaRPr kumimoji="1" lang="zh-CN" altLang="en-US"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770753" y="1780630"/>
            <a:ext cx="10821944" cy="4174490"/>
          </a:xfrm>
          <a:prstGeom prst="rect">
            <a:avLst/>
          </a:prstGeom>
          <a:noFill/>
        </p:spPr>
        <p:txBody>
          <a:bodyPr wrap="square">
            <a:spAutoFit/>
          </a:bodyPr>
          <a:lstStyle/>
          <a:p>
            <a:pPr algn="just">
              <a:lnSpc>
                <a:spcPct val="166000"/>
              </a:lnSpc>
            </a:pPr>
            <a:r>
              <a:rPr lang="zh-CN" altLang="zh-CN" sz="2000" b="1" kern="100" dirty="0">
                <a:effectLst/>
                <a:latin typeface="Calibri" panose="020F0502020204030204" pitchFamily="34" charset="0"/>
                <a:ea typeface="微软雅黑" panose="020B0503020204020204" pitchFamily="34" charset="-122"/>
                <a:cs typeface="Times New Roman" panose="02020603050405020304" pitchFamily="18" charset="0"/>
              </a:rPr>
              <a:t>【</a:t>
            </a:r>
            <a:r>
              <a:rPr lang="zh-CN" altLang="en-US" sz="2000" b="1" kern="100" dirty="0">
                <a:effectLst/>
                <a:latin typeface="Calibri" panose="020F0502020204030204" pitchFamily="34" charset="0"/>
                <a:ea typeface="微软雅黑" panose="020B0503020204020204" pitchFamily="34" charset="-122"/>
                <a:cs typeface="Times New Roman" panose="02020603050405020304" pitchFamily="18" charset="0"/>
              </a:rPr>
              <a:t>重点识记</a:t>
            </a:r>
            <a:r>
              <a:rPr lang="zh-CN" altLang="zh-CN" sz="2000" b="1" kern="100" dirty="0">
                <a:effectLst/>
                <a:latin typeface="Calibri" panose="020F0502020204030204" pitchFamily="34" charset="0"/>
                <a:ea typeface="微软雅黑" panose="020B0503020204020204" pitchFamily="34" charset="-122"/>
                <a:cs typeface="Times New Roman" panose="02020603050405020304" pitchFamily="18" charset="0"/>
              </a:rPr>
              <a:t>】</a:t>
            </a:r>
            <a:endPar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66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1.</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rPr>
              <a:t>中国共产党党的根本立场、初心使命、奋斗目标</a:t>
            </a:r>
            <a:endParaRPr lang="en-US" altLang="zh-CN" sz="2000" kern="100" dirty="0">
              <a:latin typeface="Calibri" panose="020F0502020204030204" pitchFamily="34" charset="0"/>
              <a:ea typeface="微软雅黑" panose="020B0503020204020204" pitchFamily="34" charset="-122"/>
              <a:cs typeface="Times New Roman" panose="02020603050405020304" pitchFamily="18" charset="0"/>
            </a:endParaRPr>
          </a:p>
          <a:p>
            <a:pPr algn="just">
              <a:lnSpc>
                <a:spcPct val="166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2.</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rPr>
              <a:t>推动共同富裕的阶段目标、重大原则、重大举措</a:t>
            </a:r>
            <a:endParaRPr lang="en-US" altLang="zh-CN" sz="2000" kern="100" dirty="0">
              <a:latin typeface="Calibri" panose="020F0502020204030204" pitchFamily="34" charset="0"/>
              <a:ea typeface="微软雅黑" panose="020B0503020204020204" pitchFamily="34" charset="-122"/>
              <a:cs typeface="Times New Roman" panose="02020603050405020304" pitchFamily="18" charset="0"/>
            </a:endParaRPr>
          </a:p>
          <a:p>
            <a:pPr algn="just">
              <a:lnSpc>
                <a:spcPct val="166000"/>
              </a:lnSpc>
            </a:pPr>
            <a:r>
              <a:rPr lang="zh-CN" altLang="zh-CN" sz="2000" b="1" kern="100" dirty="0">
                <a:effectLst/>
                <a:latin typeface="Calibri" panose="020F0502020204030204" pitchFamily="34" charset="0"/>
                <a:ea typeface="微软雅黑" panose="020B0503020204020204" pitchFamily="34" charset="-122"/>
                <a:cs typeface="Times New Roman" panose="02020603050405020304" pitchFamily="18" charset="0"/>
              </a:rPr>
              <a:t>【</a:t>
            </a:r>
            <a:r>
              <a:rPr lang="zh-CN" altLang="en-US" sz="2000" b="1" kern="100" dirty="0">
                <a:effectLst/>
                <a:latin typeface="Calibri" panose="020F0502020204030204" pitchFamily="34" charset="0"/>
                <a:ea typeface="微软雅黑" panose="020B0503020204020204" pitchFamily="34" charset="-122"/>
                <a:cs typeface="Times New Roman" panose="02020603050405020304" pitchFamily="18" charset="0"/>
              </a:rPr>
              <a:t>重点阐释</a:t>
            </a:r>
            <a:r>
              <a:rPr lang="zh-CN" altLang="zh-CN" sz="2000" b="1" kern="100" dirty="0">
                <a:effectLst/>
                <a:latin typeface="Calibri" panose="020F0502020204030204" pitchFamily="34" charset="0"/>
                <a:ea typeface="微软雅黑" panose="020B0503020204020204" pitchFamily="34" charset="-122"/>
                <a:cs typeface="Times New Roman" panose="02020603050405020304" pitchFamily="18" charset="0"/>
              </a:rPr>
              <a:t>】</a:t>
            </a:r>
            <a:endPar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66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1.</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rPr>
              <a:t>为什么必须坚持以人民为中心</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sym typeface="+mn-ea"/>
              </a:rPr>
              <a:t>？</a:t>
            </a:r>
            <a:endParaRPr lang="zh-CN" altLang="en-US" sz="2000" kern="100" dirty="0">
              <a:latin typeface="Calibri" panose="020F0502020204030204" pitchFamily="34" charset="0"/>
              <a:ea typeface="微软雅黑" panose="020B0503020204020204" pitchFamily="34" charset="-122"/>
              <a:cs typeface="Times New Roman" panose="02020603050405020304" pitchFamily="18" charset="0"/>
              <a:sym typeface="+mn-ea"/>
            </a:endParaRPr>
          </a:p>
          <a:p>
            <a:pPr algn="just">
              <a:lnSpc>
                <a:spcPct val="166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sym typeface="+mn-ea"/>
              </a:rPr>
              <a:t>2.</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sym typeface="+mn-ea"/>
              </a:rPr>
              <a:t>为什么说</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sym typeface="+mn-ea"/>
              </a:rPr>
              <a:t>“江山就是人民，人民就是江山”</a:t>
            </a: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sym typeface="+mn-ea"/>
              </a:rPr>
              <a:t>?</a:t>
            </a:r>
            <a:endParaRPr lang="zh-CN" altLang="en-US" sz="2000" kern="100" dirty="0">
              <a:latin typeface="Calibri" panose="020F0502020204030204" pitchFamily="34" charset="0"/>
              <a:ea typeface="微软雅黑" panose="020B0503020204020204" pitchFamily="34" charset="-122"/>
              <a:cs typeface="Times New Roman" panose="02020603050405020304" pitchFamily="18" charset="0"/>
            </a:endParaRPr>
          </a:p>
          <a:p>
            <a:pPr algn="just">
              <a:lnSpc>
                <a:spcPct val="166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3.</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rPr>
              <a:t>怎样</a:t>
            </a:r>
            <a:r>
              <a:rPr lang="zh-CN" altLang="zh-CN" sz="2000" kern="100" dirty="0">
                <a:latin typeface="Calibri" panose="020F0502020204030204" pitchFamily="34" charset="0"/>
                <a:ea typeface="微软雅黑" panose="020B0503020204020204" pitchFamily="34" charset="-122"/>
                <a:cs typeface="Times New Roman" panose="02020603050405020304" pitchFamily="18" charset="0"/>
                <a:sym typeface="+mn-ea"/>
              </a:rPr>
              <a:t>理解坚持人民至上</a:t>
            </a:r>
            <a:r>
              <a:rPr lang="zh-CN" altLang="zh-CN" sz="2000" kern="100" dirty="0">
                <a:latin typeface="Calibri" panose="020F0502020204030204" pitchFamily="34" charset="0"/>
                <a:ea typeface="微软雅黑" panose="020B0503020204020204" pitchFamily="34" charset="-122"/>
                <a:cs typeface="Times New Roman" panose="02020603050405020304" pitchFamily="18" charset="0"/>
              </a:rPr>
              <a:t>？</a:t>
            </a:r>
            <a:endParaRPr lang="en-US" altLang="zh-CN" sz="2000" kern="100" dirty="0">
              <a:latin typeface="Calibri" panose="020F0502020204030204" pitchFamily="34" charset="0"/>
              <a:ea typeface="微软雅黑" panose="020B0503020204020204" pitchFamily="34" charset="-122"/>
              <a:cs typeface="Times New Roman" panose="02020603050405020304" pitchFamily="18" charset="0"/>
            </a:endParaRPr>
          </a:p>
          <a:p>
            <a:pPr algn="just">
              <a:lnSpc>
                <a:spcPct val="166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4.</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rPr>
              <a:t>如何全面落实以人民为中心的发展思想？</a:t>
            </a:r>
            <a:endParaRPr lang="zh-CN" altLang="en-US" sz="2000" kern="100" dirty="0">
              <a:latin typeface="Calibri" panose="020F0502020204030204" pitchFamily="34" charset="0"/>
              <a:ea typeface="微软雅黑" panose="020B0503020204020204" pitchFamily="34" charset="-122"/>
              <a:cs typeface="Times New Roman" panose="02020603050405020304" pitchFamily="18" charset="0"/>
            </a:endParaRPr>
          </a:p>
        </p:txBody>
      </p:sp>
      <p:sp>
        <p:nvSpPr>
          <p:cNvPr id="4" name="对角圆角矩形 3"/>
          <p:cNvSpPr/>
          <p:nvPr/>
        </p:nvSpPr>
        <p:spPr>
          <a:xfrm flipH="1">
            <a:off x="1415480" y="764704"/>
            <a:ext cx="9073008" cy="703072"/>
          </a:xfrm>
          <a:prstGeom prst="round2DiagRect">
            <a:avLst/>
          </a:prstGeom>
          <a:gradFill>
            <a:gsLst>
              <a:gs pos="0">
                <a:srgbClr val="C00000"/>
              </a:gs>
              <a:gs pos="100000">
                <a:srgbClr val="AC251C"/>
              </a:gs>
            </a:gsLst>
            <a:lin ang="0" scaled="0"/>
          </a:gradFill>
          <a:ln>
            <a:noFill/>
          </a:ln>
          <a:effectLst>
            <a:outerShdw blurRad="50800" dist="38100" algn="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第四章</a:t>
            </a:r>
            <a:r>
              <a:rPr kumimoji="1" lang="en-US" altLang="zh-CN"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kumimoji="1" lang="zh-CN" altLang="en-US"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坚持以人民为中心</a:t>
            </a:r>
            <a:endParaRPr kumimoji="1" lang="zh-CN" altLang="en-US"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770753" y="1780630"/>
            <a:ext cx="10821944" cy="3784600"/>
          </a:xfrm>
          <a:prstGeom prst="rect">
            <a:avLst/>
          </a:prstGeom>
          <a:noFill/>
        </p:spPr>
        <p:txBody>
          <a:bodyPr wrap="square">
            <a:spAutoFit/>
          </a:bodyPr>
          <a:lstStyle/>
          <a:p>
            <a:pPr algn="just">
              <a:lnSpc>
                <a:spcPct val="150000"/>
              </a:lnSpc>
            </a:pPr>
            <a:r>
              <a:rPr lang="zh-CN" altLang="zh-CN" sz="2000" b="1" kern="100" dirty="0">
                <a:effectLst/>
                <a:latin typeface="Calibri" panose="020F0502020204030204" pitchFamily="34" charset="0"/>
                <a:ea typeface="微软雅黑" panose="020B0503020204020204" pitchFamily="34" charset="-122"/>
                <a:cs typeface="Times New Roman" panose="02020603050405020304" pitchFamily="18" charset="0"/>
              </a:rPr>
              <a:t>【</a:t>
            </a:r>
            <a:r>
              <a:rPr lang="zh-CN" altLang="en-US" sz="2000" b="1" kern="100" dirty="0">
                <a:effectLst/>
                <a:latin typeface="Calibri" panose="020F0502020204030204" pitchFamily="34" charset="0"/>
                <a:ea typeface="微软雅黑" panose="020B0503020204020204" pitchFamily="34" charset="-122"/>
                <a:cs typeface="Times New Roman" panose="02020603050405020304" pitchFamily="18" charset="0"/>
              </a:rPr>
              <a:t>重点识记</a:t>
            </a:r>
            <a:r>
              <a:rPr lang="zh-CN" altLang="zh-CN" sz="2000" b="1" kern="100" dirty="0">
                <a:effectLst/>
                <a:latin typeface="Calibri" panose="020F0502020204030204" pitchFamily="34" charset="0"/>
                <a:ea typeface="微软雅黑" panose="020B0503020204020204" pitchFamily="34" charset="-122"/>
                <a:cs typeface="Times New Roman" panose="02020603050405020304" pitchFamily="18" charset="0"/>
              </a:rPr>
              <a:t>】</a:t>
            </a:r>
            <a:endPar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50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1.</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sym typeface="+mn-ea"/>
              </a:rPr>
              <a:t>全面深化改革总目标和进一步</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sym typeface="+mn-ea"/>
              </a:rPr>
              <a:t>全面深化改革总目标</a:t>
            </a:r>
            <a:endParaRPr lang="zh-CN" altLang="en-US" sz="2000" kern="100" dirty="0">
              <a:latin typeface="Calibri" panose="020F0502020204030204" pitchFamily="34" charset="0"/>
              <a:ea typeface="微软雅黑" panose="020B0503020204020204" pitchFamily="34" charset="-122"/>
              <a:cs typeface="Times New Roman" panose="02020603050405020304" pitchFamily="18" charset="0"/>
              <a:sym typeface="+mn-ea"/>
            </a:endParaRPr>
          </a:p>
          <a:p>
            <a:pPr algn="just">
              <a:lnSpc>
                <a:spcPct val="150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2.</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rPr>
              <a:t>坚持全面深化改革开放的正确方向</a:t>
            </a:r>
            <a:endParaRPr lang="en-US" altLang="zh-CN" sz="2000" kern="100" dirty="0">
              <a:latin typeface="Calibri" panose="020F0502020204030204" pitchFamily="34" charset="0"/>
              <a:ea typeface="微软雅黑" panose="020B0503020204020204" pitchFamily="34" charset="-122"/>
              <a:cs typeface="Times New Roman" panose="02020603050405020304" pitchFamily="18" charset="0"/>
            </a:endParaRPr>
          </a:p>
          <a:p>
            <a:pPr algn="just">
              <a:lnSpc>
                <a:spcPct val="150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3.</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rPr>
              <a:t>全面深化改革开放的正确方法论</a:t>
            </a:r>
            <a:endParaRPr lang="en-US" altLang="zh-CN" sz="2000" kern="100" dirty="0">
              <a:latin typeface="Calibri" panose="020F0502020204030204" pitchFamily="34" charset="0"/>
              <a:ea typeface="微软雅黑" panose="020B0503020204020204" pitchFamily="34" charset="-122"/>
              <a:cs typeface="Times New Roman" panose="02020603050405020304" pitchFamily="18" charset="0"/>
            </a:endParaRPr>
          </a:p>
          <a:p>
            <a:pPr algn="just">
              <a:lnSpc>
                <a:spcPct val="150000"/>
              </a:lnSpc>
            </a:pPr>
            <a:r>
              <a:rPr lang="zh-CN" altLang="zh-CN" sz="2000" b="1" kern="100" dirty="0">
                <a:effectLst/>
                <a:latin typeface="Calibri" panose="020F0502020204030204" pitchFamily="34" charset="0"/>
                <a:ea typeface="微软雅黑" panose="020B0503020204020204" pitchFamily="34" charset="-122"/>
                <a:cs typeface="Times New Roman" panose="02020603050405020304" pitchFamily="18" charset="0"/>
              </a:rPr>
              <a:t>【</a:t>
            </a:r>
            <a:r>
              <a:rPr lang="zh-CN" altLang="en-US" sz="2000" b="1" kern="100" dirty="0">
                <a:effectLst/>
                <a:latin typeface="Calibri" panose="020F0502020204030204" pitchFamily="34" charset="0"/>
                <a:ea typeface="微软雅黑" panose="020B0503020204020204" pitchFamily="34" charset="-122"/>
                <a:cs typeface="Times New Roman" panose="02020603050405020304" pitchFamily="18" charset="0"/>
              </a:rPr>
              <a:t>重点阐释</a:t>
            </a:r>
            <a:r>
              <a:rPr lang="zh-CN" altLang="zh-CN" sz="2000" b="1" kern="100" dirty="0">
                <a:effectLst/>
                <a:latin typeface="Calibri" panose="020F0502020204030204" pitchFamily="34" charset="0"/>
                <a:ea typeface="微软雅黑" panose="020B0503020204020204" pitchFamily="34" charset="-122"/>
                <a:cs typeface="Times New Roman" panose="02020603050405020304" pitchFamily="18" charset="0"/>
              </a:rPr>
              <a:t>】</a:t>
            </a:r>
            <a:endPar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50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1.</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sym typeface="+mn-ea"/>
              </a:rPr>
              <a:t>为什么说全面深化改革开放是一场深刻革命？</a:t>
            </a:r>
            <a:endParaRPr lang="en-US" altLang="zh-CN" sz="2000" kern="100" dirty="0">
              <a:latin typeface="Calibri" panose="020F0502020204030204" pitchFamily="34" charset="0"/>
              <a:ea typeface="微软雅黑" panose="020B0503020204020204" pitchFamily="34" charset="-122"/>
              <a:cs typeface="Times New Roman" panose="02020603050405020304" pitchFamily="18" charset="0"/>
            </a:endParaRPr>
          </a:p>
          <a:p>
            <a:pPr algn="just">
              <a:lnSpc>
                <a:spcPct val="150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2.</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sym typeface="+mn-ea"/>
              </a:rPr>
              <a:t>为什么要</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sym typeface="+mn-ea"/>
              </a:rPr>
              <a:t>全面深化改革开放以及怎样推进</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sym typeface="+mn-ea"/>
              </a:rPr>
              <a:t>全面深化改革开放？</a:t>
            </a:r>
            <a:endParaRPr lang="en-US" altLang="zh-CN" sz="2000" kern="100" dirty="0">
              <a:latin typeface="Calibri" panose="020F0502020204030204" pitchFamily="34" charset="0"/>
              <a:ea typeface="微软雅黑" panose="020B0503020204020204" pitchFamily="34" charset="-122"/>
              <a:cs typeface="Times New Roman" panose="02020603050405020304" pitchFamily="18" charset="0"/>
            </a:endParaRPr>
          </a:p>
          <a:p>
            <a:pPr algn="just">
              <a:lnSpc>
                <a:spcPct val="150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3.</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rPr>
              <a:t>为什么要将</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sym typeface="+mn-ea"/>
              </a:rPr>
              <a:t>改革开放坚持到底？</a:t>
            </a:r>
            <a:endParaRPr lang="zh-CN" altLang="en-US" sz="2000" kern="100" dirty="0">
              <a:latin typeface="Calibri" panose="020F0502020204030204" pitchFamily="34" charset="0"/>
              <a:ea typeface="微软雅黑" panose="020B0503020204020204" pitchFamily="34" charset="-122"/>
              <a:cs typeface="Times New Roman" panose="02020603050405020304" pitchFamily="18" charset="0"/>
            </a:endParaRPr>
          </a:p>
        </p:txBody>
      </p:sp>
      <p:sp>
        <p:nvSpPr>
          <p:cNvPr id="4" name="对角圆角矩形 3"/>
          <p:cNvSpPr/>
          <p:nvPr/>
        </p:nvSpPr>
        <p:spPr>
          <a:xfrm flipH="1">
            <a:off x="1415480" y="764704"/>
            <a:ext cx="9073008" cy="703072"/>
          </a:xfrm>
          <a:prstGeom prst="round2DiagRect">
            <a:avLst/>
          </a:prstGeom>
          <a:gradFill>
            <a:gsLst>
              <a:gs pos="0">
                <a:srgbClr val="C00000"/>
              </a:gs>
              <a:gs pos="100000">
                <a:srgbClr val="AC251C"/>
              </a:gs>
            </a:gsLst>
            <a:lin ang="0" scaled="0"/>
          </a:gradFill>
          <a:ln>
            <a:noFill/>
          </a:ln>
          <a:effectLst>
            <a:outerShdw blurRad="50800" dist="38100" algn="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第五章</a:t>
            </a:r>
            <a:r>
              <a:rPr kumimoji="1" lang="en-US" altLang="zh-CN"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kumimoji="1" lang="zh-CN" altLang="en-US"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全面深化改革开放</a:t>
            </a:r>
            <a:endParaRPr kumimoji="1" lang="zh-CN" altLang="en-US"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770753" y="1780630"/>
            <a:ext cx="10821944" cy="4198201"/>
          </a:xfrm>
          <a:prstGeom prst="rect">
            <a:avLst/>
          </a:prstGeom>
          <a:noFill/>
        </p:spPr>
        <p:txBody>
          <a:bodyPr wrap="square">
            <a:spAutoFit/>
          </a:bodyPr>
          <a:lstStyle/>
          <a:p>
            <a:pPr algn="just">
              <a:lnSpc>
                <a:spcPct val="150000"/>
              </a:lnSpc>
            </a:pPr>
            <a:r>
              <a:rPr lang="zh-CN" altLang="zh-CN" sz="2000" b="1" kern="100" dirty="0">
                <a:effectLst/>
                <a:latin typeface="Calibri" panose="020F0502020204030204" pitchFamily="34" charset="0"/>
                <a:ea typeface="微软雅黑" panose="020B0503020204020204" pitchFamily="34" charset="-122"/>
                <a:cs typeface="Times New Roman" panose="02020603050405020304" pitchFamily="18" charset="0"/>
              </a:rPr>
              <a:t>【</a:t>
            </a:r>
            <a:r>
              <a:rPr lang="zh-CN" altLang="en-US" sz="2000" b="1" kern="100" dirty="0">
                <a:effectLst/>
                <a:latin typeface="Calibri" panose="020F0502020204030204" pitchFamily="34" charset="0"/>
                <a:ea typeface="微软雅黑" panose="020B0503020204020204" pitchFamily="34" charset="-122"/>
                <a:cs typeface="Times New Roman" panose="02020603050405020304" pitchFamily="18" charset="0"/>
              </a:rPr>
              <a:t>重点识记</a:t>
            </a:r>
            <a:r>
              <a:rPr lang="zh-CN" altLang="zh-CN" sz="2000" b="1" kern="100" dirty="0">
                <a:effectLst/>
                <a:latin typeface="Calibri" panose="020F0502020204030204" pitchFamily="34" charset="0"/>
                <a:ea typeface="微软雅黑" panose="020B0503020204020204" pitchFamily="34" charset="-122"/>
                <a:cs typeface="Times New Roman" panose="02020603050405020304" pitchFamily="18" charset="0"/>
              </a:rPr>
              <a:t>】</a:t>
            </a:r>
            <a:endPar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50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1.</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rPr>
              <a:t>新发展理念的科学内涵和实践要求</a:t>
            </a:r>
            <a:endParaRPr lang="en-US" altLang="zh-CN" sz="2000" kern="100" dirty="0">
              <a:latin typeface="Calibri" panose="020F0502020204030204" pitchFamily="34" charset="0"/>
              <a:ea typeface="微软雅黑" panose="020B0503020204020204" pitchFamily="34" charset="-122"/>
              <a:cs typeface="Times New Roman" panose="02020603050405020304" pitchFamily="18" charset="0"/>
            </a:endParaRPr>
          </a:p>
          <a:p>
            <a:pPr algn="just">
              <a:lnSpc>
                <a:spcPct val="150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2.</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rPr>
              <a:t>高质量发展的深刻内涵和重大意义</a:t>
            </a:r>
            <a:endParaRPr lang="en-US" altLang="zh-CN" sz="2000" kern="100" dirty="0">
              <a:latin typeface="Calibri" panose="020F0502020204030204" pitchFamily="34" charset="0"/>
              <a:ea typeface="微软雅黑" panose="020B0503020204020204" pitchFamily="34" charset="-122"/>
              <a:cs typeface="Times New Roman" panose="02020603050405020304" pitchFamily="18" charset="0"/>
            </a:endParaRPr>
          </a:p>
          <a:p>
            <a:pPr algn="just">
              <a:lnSpc>
                <a:spcPct val="150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3.</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rPr>
              <a:t>坚持和完善社会主义基本经济制度</a:t>
            </a:r>
            <a:endParaRPr lang="en-US" altLang="zh-CN" sz="2000" kern="100" dirty="0">
              <a:latin typeface="Calibri" panose="020F0502020204030204" pitchFamily="34" charset="0"/>
              <a:ea typeface="微软雅黑" panose="020B0503020204020204" pitchFamily="34" charset="-122"/>
              <a:cs typeface="Times New Roman" panose="02020603050405020304" pitchFamily="18" charset="0"/>
            </a:endParaRPr>
          </a:p>
          <a:p>
            <a:pPr algn="just">
              <a:lnSpc>
                <a:spcPct val="150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4.</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rPr>
              <a:t>构建以国内大循环为主体、国内国际双循环相互促进的新发展格局</a:t>
            </a:r>
            <a:endParaRPr lang="en-US" altLang="zh-CN" sz="2000" kern="100" dirty="0">
              <a:latin typeface="Calibri" panose="020F0502020204030204" pitchFamily="34" charset="0"/>
              <a:ea typeface="微软雅黑" panose="020B0503020204020204" pitchFamily="34" charset="-122"/>
              <a:cs typeface="Times New Roman" panose="02020603050405020304" pitchFamily="18" charset="0"/>
            </a:endParaRPr>
          </a:p>
          <a:p>
            <a:pPr algn="just">
              <a:lnSpc>
                <a:spcPct val="150000"/>
              </a:lnSpc>
            </a:pPr>
            <a:r>
              <a:rPr lang="zh-CN" altLang="zh-CN" sz="2000" b="1" kern="100" dirty="0">
                <a:effectLst/>
                <a:latin typeface="Calibri" panose="020F0502020204030204" pitchFamily="34" charset="0"/>
                <a:ea typeface="微软雅黑" panose="020B0503020204020204" pitchFamily="34" charset="-122"/>
                <a:cs typeface="Times New Roman" panose="02020603050405020304" pitchFamily="18" charset="0"/>
              </a:rPr>
              <a:t>【</a:t>
            </a:r>
            <a:r>
              <a:rPr lang="zh-CN" altLang="en-US" sz="2000" b="1" kern="100" dirty="0">
                <a:effectLst/>
                <a:latin typeface="Calibri" panose="020F0502020204030204" pitchFamily="34" charset="0"/>
                <a:ea typeface="微软雅黑" panose="020B0503020204020204" pitchFamily="34" charset="-122"/>
                <a:cs typeface="Times New Roman" panose="02020603050405020304" pitchFamily="18" charset="0"/>
              </a:rPr>
              <a:t>重点阐释</a:t>
            </a:r>
            <a:r>
              <a:rPr lang="zh-CN" altLang="zh-CN" sz="2000" b="1" kern="100" dirty="0">
                <a:effectLst/>
                <a:latin typeface="Calibri" panose="020F0502020204030204" pitchFamily="34" charset="0"/>
                <a:ea typeface="微软雅黑" panose="020B0503020204020204" pitchFamily="34" charset="-122"/>
                <a:cs typeface="Times New Roman" panose="02020603050405020304" pitchFamily="18" charset="0"/>
              </a:rPr>
              <a:t>】</a:t>
            </a:r>
            <a:endPar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50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1.</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rPr>
              <a:t>如何以新发展理念引领高质量发展</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sym typeface="+mn-ea"/>
              </a:rPr>
              <a:t>？</a:t>
            </a:r>
            <a:endParaRPr lang="en-US" altLang="zh-CN" sz="2000" kern="100" dirty="0">
              <a:latin typeface="Calibri" panose="020F0502020204030204" pitchFamily="34" charset="0"/>
              <a:ea typeface="微软雅黑" panose="020B0503020204020204" pitchFamily="34" charset="-122"/>
              <a:cs typeface="Times New Roman" panose="02020603050405020304" pitchFamily="18" charset="0"/>
              <a:sym typeface="+mn-ea"/>
            </a:endParaRPr>
          </a:p>
          <a:p>
            <a:pPr algn="just">
              <a:lnSpc>
                <a:spcPct val="150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2.</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rPr>
              <a:t>如何理解“两个毫不动摇” </a:t>
            </a:r>
            <a:r>
              <a:rPr lang="zh-CN" altLang="zh-CN" sz="2000" kern="100" dirty="0">
                <a:latin typeface="Calibri" panose="020F0502020204030204" pitchFamily="34" charset="0"/>
                <a:ea typeface="微软雅黑" panose="020B0503020204020204" pitchFamily="34" charset="-122"/>
                <a:cs typeface="Times New Roman" panose="02020603050405020304" pitchFamily="18" charset="0"/>
              </a:rPr>
              <a:t>？</a:t>
            </a:r>
            <a:endParaRPr lang="en-US" altLang="zh-CN" sz="2000" kern="100" dirty="0">
              <a:latin typeface="Calibri" panose="020F0502020204030204" pitchFamily="34" charset="0"/>
              <a:ea typeface="微软雅黑" panose="020B0503020204020204" pitchFamily="34" charset="-122"/>
              <a:cs typeface="Times New Roman" panose="02020603050405020304" pitchFamily="18" charset="0"/>
            </a:endParaRPr>
          </a:p>
          <a:p>
            <a:pPr algn="just">
              <a:lnSpc>
                <a:spcPct val="150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3.</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rPr>
              <a:t>为什么要构建新发展格局以及如何构建？</a:t>
            </a:r>
            <a:endParaRPr lang="zh-CN" altLang="en-US" sz="2000" kern="100" dirty="0">
              <a:latin typeface="Calibri" panose="020F0502020204030204" pitchFamily="34" charset="0"/>
              <a:ea typeface="微软雅黑" panose="020B0503020204020204" pitchFamily="34" charset="-122"/>
              <a:cs typeface="Times New Roman" panose="02020603050405020304" pitchFamily="18" charset="0"/>
            </a:endParaRPr>
          </a:p>
        </p:txBody>
      </p:sp>
      <p:sp>
        <p:nvSpPr>
          <p:cNvPr id="4" name="对角圆角矩形 3"/>
          <p:cNvSpPr/>
          <p:nvPr/>
        </p:nvSpPr>
        <p:spPr>
          <a:xfrm flipH="1">
            <a:off x="1415480" y="764704"/>
            <a:ext cx="9073008" cy="703072"/>
          </a:xfrm>
          <a:prstGeom prst="round2DiagRect">
            <a:avLst/>
          </a:prstGeom>
          <a:gradFill>
            <a:gsLst>
              <a:gs pos="0">
                <a:srgbClr val="C00000"/>
              </a:gs>
              <a:gs pos="100000">
                <a:srgbClr val="AC251C"/>
              </a:gs>
            </a:gsLst>
            <a:lin ang="0" scaled="0"/>
          </a:gradFill>
          <a:ln>
            <a:noFill/>
          </a:ln>
          <a:effectLst>
            <a:outerShdw blurRad="50800" dist="38100" algn="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第六章</a:t>
            </a:r>
            <a:r>
              <a:rPr kumimoji="1" lang="en-US" altLang="zh-CN"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kumimoji="1" lang="zh-CN" altLang="en-US"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推动高质量发展</a:t>
            </a:r>
            <a:endParaRPr kumimoji="1" lang="zh-CN" altLang="en-US"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53767" y="1634476"/>
            <a:ext cx="10279132" cy="4505977"/>
          </a:xfrm>
          <a:prstGeom prst="rect">
            <a:avLst/>
          </a:prstGeom>
          <a:noFill/>
        </p:spPr>
        <p:txBody>
          <a:bodyPr wrap="square">
            <a:spAutoFit/>
          </a:bodyPr>
          <a:lstStyle/>
          <a:p>
            <a:pPr algn="just">
              <a:lnSpc>
                <a:spcPct val="200000"/>
              </a:lnSpc>
            </a:pPr>
            <a:r>
              <a:rPr lang="zh-CN" altLang="zh-CN" sz="2000" b="1" kern="100" dirty="0">
                <a:effectLst/>
                <a:latin typeface="Calibri" panose="020F0502020204030204" pitchFamily="34" charset="0"/>
                <a:ea typeface="微软雅黑" panose="020B0503020204020204" pitchFamily="34" charset="-122"/>
                <a:cs typeface="Times New Roman" panose="02020603050405020304" pitchFamily="18" charset="0"/>
              </a:rPr>
              <a:t>【重点识记】</a:t>
            </a:r>
            <a:endPar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50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1.</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rPr>
              <a:t>教育、科技、人才是全面建设社会主义现代化国家的基础性、战略性支撑</a:t>
            </a:r>
            <a:endParaRPr lang="zh-CN" altLang="zh-CN" sz="2000" kern="100" dirty="0">
              <a:latin typeface="Calibri" panose="020F0502020204030204" pitchFamily="34" charset="0"/>
              <a:ea typeface="微软雅黑" panose="020B0503020204020204" pitchFamily="34" charset="-122"/>
              <a:cs typeface="Times New Roman" panose="02020603050405020304" pitchFamily="18" charset="0"/>
            </a:endParaRPr>
          </a:p>
          <a:p>
            <a:pPr algn="just">
              <a:lnSpc>
                <a:spcPct val="150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2.</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rPr>
              <a:t>教育是国之大计、党之大计</a:t>
            </a:r>
            <a:endParaRPr lang="en-US" altLang="zh-CN" sz="2000" kern="100" dirty="0">
              <a:latin typeface="Calibri" panose="020F0502020204030204" pitchFamily="34" charset="0"/>
              <a:ea typeface="微软雅黑" panose="020B0503020204020204" pitchFamily="34" charset="-122"/>
              <a:cs typeface="Times New Roman" panose="02020603050405020304" pitchFamily="18" charset="0"/>
            </a:endParaRPr>
          </a:p>
          <a:p>
            <a:pPr algn="just">
              <a:lnSpc>
                <a:spcPct val="150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3.</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rPr>
              <a:t>科技自立自强是国家强盛之基、安全之要</a:t>
            </a:r>
            <a:endParaRPr lang="en-US" altLang="zh-CN" sz="2000" kern="100" dirty="0">
              <a:latin typeface="Calibri" panose="020F0502020204030204" pitchFamily="34" charset="0"/>
              <a:ea typeface="微软雅黑" panose="020B0503020204020204" pitchFamily="34" charset="-122"/>
              <a:cs typeface="Times New Roman" panose="02020603050405020304" pitchFamily="18" charset="0"/>
            </a:endParaRPr>
          </a:p>
          <a:p>
            <a:pPr algn="just">
              <a:lnSpc>
                <a:spcPct val="150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4.</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rPr>
              <a:t>人才是实现民族振兴、赢得国际竞争主动的战略资源</a:t>
            </a:r>
            <a:endParaRPr lang="en-US" altLang="zh-CN" sz="2000" kern="100" dirty="0">
              <a:latin typeface="Calibri" panose="020F0502020204030204" pitchFamily="34" charset="0"/>
              <a:ea typeface="微软雅黑" panose="020B0503020204020204" pitchFamily="34" charset="-122"/>
              <a:cs typeface="Times New Roman" panose="02020603050405020304" pitchFamily="18" charset="0"/>
            </a:endParaRPr>
          </a:p>
          <a:p>
            <a:pPr algn="just">
              <a:lnSpc>
                <a:spcPct val="200000"/>
              </a:lnSpc>
            </a:pPr>
            <a:r>
              <a:rPr lang="zh-CN" altLang="zh-CN" sz="2000" b="1" kern="100" dirty="0">
                <a:effectLst/>
                <a:latin typeface="Calibri" panose="020F0502020204030204" pitchFamily="34" charset="0"/>
                <a:ea typeface="微软雅黑" panose="020B0503020204020204" pitchFamily="34" charset="-122"/>
                <a:cs typeface="Times New Roman" panose="02020603050405020304" pitchFamily="18" charset="0"/>
              </a:rPr>
              <a:t>【重点阐释】</a:t>
            </a:r>
            <a:endPar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50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1.</a:t>
            </a:r>
            <a:r>
              <a:rPr lang="zh-CN" altLang="en-US" sz="2000" kern="100" dirty="0">
                <a:solidFill>
                  <a:schemeClr val="tx1"/>
                </a:solidFill>
                <a:latin typeface="Calibri" panose="020F0502020204030204" pitchFamily="34" charset="0"/>
                <a:ea typeface="微软雅黑" panose="020B0503020204020204" pitchFamily="34" charset="-122"/>
                <a:cs typeface="Times New Roman" panose="02020603050405020304" pitchFamily="18" charset="0"/>
                <a:sym typeface="+mn-ea"/>
              </a:rPr>
              <a:t>如何坚持教育、科技、人才一体推进？</a:t>
            </a:r>
            <a:endParaRPr lang="en-US" altLang="zh-CN" sz="2000" kern="100" dirty="0">
              <a:latin typeface="Calibri" panose="020F0502020204030204" pitchFamily="34" charset="0"/>
              <a:ea typeface="微软雅黑" panose="020B0503020204020204" pitchFamily="34" charset="-122"/>
              <a:cs typeface="Times New Roman" panose="02020603050405020304" pitchFamily="18" charset="0"/>
            </a:endParaRPr>
          </a:p>
          <a:p>
            <a:pPr algn="just">
              <a:lnSpc>
                <a:spcPct val="150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2.</a:t>
            </a:r>
            <a:r>
              <a:rPr lang="zh-CN" altLang="en-US" sz="2000" dirty="0">
                <a:latin typeface="微软雅黑" panose="020B0503020204020204" pitchFamily="34" charset="-122"/>
                <a:ea typeface="微软雅黑" panose="020B0503020204020204" pitchFamily="34" charset="-122"/>
              </a:rPr>
              <a:t>如何办好人民满意的教育？</a:t>
            </a:r>
            <a:endParaRPr lang="en-US" altLang="zh-CN" sz="2000" kern="100" dirty="0">
              <a:latin typeface="Calibri" panose="020F0502020204030204" pitchFamily="34" charset="0"/>
              <a:ea typeface="微软雅黑" panose="020B0503020204020204" pitchFamily="34" charset="-122"/>
              <a:cs typeface="Times New Roman" panose="02020603050405020304" pitchFamily="18" charset="0"/>
            </a:endParaRPr>
          </a:p>
          <a:p>
            <a:pPr algn="just">
              <a:lnSpc>
                <a:spcPct val="150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3.</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rPr>
              <a:t>如何发挥新型举国体制优势</a:t>
            </a:r>
            <a:r>
              <a:rPr lang="zh-CN" altLang="zh-CN" sz="2000" kern="100" dirty="0">
                <a:latin typeface="Calibri" panose="020F0502020204030204" pitchFamily="34" charset="0"/>
                <a:ea typeface="微软雅黑" panose="020B0503020204020204" pitchFamily="34" charset="-122"/>
                <a:cs typeface="Times New Roman" panose="02020603050405020304" pitchFamily="18" charset="0"/>
              </a:rPr>
              <a:t>？</a:t>
            </a:r>
            <a:endParaRPr lang="en-US" altLang="zh-CN" sz="2000" kern="100" dirty="0">
              <a:latin typeface="Calibri" panose="020F0502020204030204" pitchFamily="34" charset="0"/>
              <a:ea typeface="微软雅黑" panose="020B0503020204020204" pitchFamily="34" charset="-122"/>
              <a:cs typeface="Times New Roman" panose="02020603050405020304" pitchFamily="18" charset="0"/>
            </a:endParaRPr>
          </a:p>
        </p:txBody>
      </p:sp>
      <p:sp>
        <p:nvSpPr>
          <p:cNvPr id="3" name="对角圆角矩形 3"/>
          <p:cNvSpPr/>
          <p:nvPr/>
        </p:nvSpPr>
        <p:spPr>
          <a:xfrm flipH="1">
            <a:off x="1415480" y="764704"/>
            <a:ext cx="9073008" cy="703072"/>
          </a:xfrm>
          <a:prstGeom prst="round2DiagRect">
            <a:avLst/>
          </a:prstGeom>
          <a:gradFill>
            <a:gsLst>
              <a:gs pos="0">
                <a:srgbClr val="C00000"/>
              </a:gs>
              <a:gs pos="100000">
                <a:srgbClr val="AC251C"/>
              </a:gs>
            </a:gsLst>
            <a:lin ang="0" scaled="0"/>
          </a:gradFill>
          <a:ln>
            <a:noFill/>
          </a:ln>
          <a:effectLst>
            <a:outerShdw blurRad="50800" dist="38100" algn="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第七章</a:t>
            </a:r>
            <a:r>
              <a:rPr kumimoji="1" lang="en-US" altLang="zh-CN"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kumimoji="1" lang="zh-CN" altLang="en-US"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社会主义现代化建设的教育、科技、人才战略</a:t>
            </a:r>
            <a:endParaRPr kumimoji="1" lang="zh-CN" altLang="en-US"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53483" y="1760364"/>
            <a:ext cx="10279132" cy="4969510"/>
          </a:xfrm>
          <a:prstGeom prst="rect">
            <a:avLst/>
          </a:prstGeom>
          <a:noFill/>
        </p:spPr>
        <p:txBody>
          <a:bodyPr wrap="square">
            <a:spAutoFit/>
          </a:bodyPr>
          <a:lstStyle/>
          <a:p>
            <a:pPr algn="just">
              <a:lnSpc>
                <a:spcPct val="125000"/>
              </a:lnSpc>
            </a:pPr>
            <a:r>
              <a:rPr lang="zh-CN" altLang="zh-CN" sz="2000" b="1" kern="100" dirty="0">
                <a:effectLst/>
                <a:latin typeface="Calibri" panose="020F0502020204030204" pitchFamily="34" charset="0"/>
                <a:ea typeface="微软雅黑" panose="020B0503020204020204" pitchFamily="34" charset="-122"/>
                <a:cs typeface="Times New Roman" panose="02020603050405020304" pitchFamily="18" charset="0"/>
              </a:rPr>
              <a:t>【重点识记】</a:t>
            </a:r>
            <a:endPar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25000"/>
              </a:lnSpc>
              <a:spcBef>
                <a:spcPct val="20000"/>
              </a:spcBef>
              <a:spcAft>
                <a:spcPts val="600"/>
              </a:spcAft>
              <a:buClr>
                <a:srgbClr val="C00000"/>
              </a:buClr>
              <a:buSzPct val="80000"/>
              <a:tabLst>
                <a:tab pos="457200" algn="l"/>
              </a:tabLst>
            </a:pP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坚定不移走中国特色社会主义政治发展道路</a:t>
            </a:r>
            <a:endParaRPr lang="zh-CN" altLang="zh-CN" sz="2000" dirty="0">
              <a:latin typeface="微软雅黑" panose="020B0503020204020204" pitchFamily="34" charset="-122"/>
              <a:ea typeface="微软雅黑" panose="020B0503020204020204" pitchFamily="34" charset="-122"/>
            </a:endParaRPr>
          </a:p>
          <a:p>
            <a:pPr algn="just">
              <a:lnSpc>
                <a:spcPct val="125000"/>
              </a:lnSpc>
              <a:spcBef>
                <a:spcPct val="20000"/>
              </a:spcBef>
              <a:spcAft>
                <a:spcPts val="600"/>
              </a:spcAft>
              <a:buClr>
                <a:srgbClr val="C00000"/>
              </a:buClr>
              <a:buSzPct val="80000"/>
              <a:tabLst>
                <a:tab pos="457200" algn="l"/>
              </a:tabLst>
            </a:pPr>
            <a:r>
              <a:rPr lang="en-US" altLang="zh-CN" sz="2000" dirty="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全过程人民民主是社会主义民主政治的本质属性</a:t>
            </a:r>
            <a:endParaRPr lang="en-US" altLang="zh-CN" sz="2000" dirty="0">
              <a:latin typeface="微软雅黑" panose="020B0503020204020204" pitchFamily="34" charset="-122"/>
              <a:ea typeface="微软雅黑" panose="020B0503020204020204" pitchFamily="34" charset="-122"/>
            </a:endParaRPr>
          </a:p>
          <a:p>
            <a:pPr algn="just">
              <a:lnSpc>
                <a:spcPct val="125000"/>
              </a:lnSpc>
              <a:spcBef>
                <a:spcPct val="20000"/>
              </a:spcBef>
              <a:spcAft>
                <a:spcPts val="600"/>
              </a:spcAft>
              <a:buClr>
                <a:srgbClr val="C00000"/>
              </a:buClr>
              <a:buSzPct val="80000"/>
              <a:tabLst>
                <a:tab pos="457200" algn="l"/>
              </a:tabLst>
            </a:pPr>
            <a:r>
              <a:rPr lang="en-US" altLang="zh-CN" sz="2000" dirty="0">
                <a:latin typeface="微软雅黑" panose="020B0503020204020204" pitchFamily="34" charset="-122"/>
                <a:ea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rPr>
              <a:t>人民当家作主制度体系的主要内容</a:t>
            </a:r>
            <a:endParaRPr lang="en-US" altLang="zh-CN" sz="2000" dirty="0">
              <a:latin typeface="微软雅黑" panose="020B0503020204020204" pitchFamily="34" charset="-122"/>
              <a:ea typeface="微软雅黑" panose="020B0503020204020204" pitchFamily="34" charset="-122"/>
            </a:endParaRPr>
          </a:p>
          <a:p>
            <a:pPr algn="just">
              <a:lnSpc>
                <a:spcPct val="125000"/>
              </a:lnSpc>
              <a:spcBef>
                <a:spcPct val="20000"/>
              </a:spcBef>
              <a:spcAft>
                <a:spcPts val="600"/>
              </a:spcAft>
              <a:buClr>
                <a:srgbClr val="C00000"/>
              </a:buClr>
              <a:buSzPct val="80000"/>
              <a:tabLst>
                <a:tab pos="457200" algn="l"/>
              </a:tabLst>
            </a:pPr>
            <a:r>
              <a:rPr lang="en-US" altLang="zh-CN" sz="2000" dirty="0">
                <a:latin typeface="微软雅黑" panose="020B0503020204020204" pitchFamily="34" charset="-122"/>
                <a:ea typeface="微软雅黑" panose="020B0503020204020204" pitchFamily="34" charset="-122"/>
              </a:rPr>
              <a:t>4.</a:t>
            </a:r>
            <a:r>
              <a:rPr lang="zh-CN" altLang="en-US" sz="2000" dirty="0">
                <a:latin typeface="微软雅黑" panose="020B0503020204020204" pitchFamily="34" charset="-122"/>
                <a:ea typeface="微软雅黑" panose="020B0503020204020204" pitchFamily="34" charset="-122"/>
              </a:rPr>
              <a:t>巩固和发展新时代爱国统一战线的重要意义</a:t>
            </a:r>
            <a:endParaRPr lang="zh-CN" altLang="zh-CN" sz="2000" dirty="0">
              <a:latin typeface="微软雅黑" panose="020B0503020204020204" pitchFamily="34" charset="-122"/>
              <a:ea typeface="微软雅黑" panose="020B0503020204020204" pitchFamily="34" charset="-122"/>
            </a:endParaRPr>
          </a:p>
          <a:p>
            <a:pPr algn="just">
              <a:lnSpc>
                <a:spcPct val="125000"/>
              </a:lnSpc>
              <a:spcBef>
                <a:spcPct val="20000"/>
              </a:spcBef>
              <a:spcAft>
                <a:spcPts val="600"/>
              </a:spcAft>
              <a:buClr>
                <a:srgbClr val="C00000"/>
              </a:buClr>
              <a:buSzPct val="80000"/>
              <a:tabLst>
                <a:tab pos="457200" algn="l"/>
              </a:tabLst>
            </a:pPr>
            <a:r>
              <a:rPr lang="zh-CN" altLang="zh-CN" sz="2000" b="1" kern="100" dirty="0">
                <a:effectLst/>
                <a:latin typeface="Calibri" panose="020F0502020204030204" pitchFamily="34" charset="0"/>
                <a:ea typeface="微软雅黑" panose="020B0503020204020204" pitchFamily="34" charset="-122"/>
                <a:cs typeface="Times New Roman" panose="02020603050405020304" pitchFamily="18" charset="0"/>
              </a:rPr>
              <a:t>【重点阐释】</a:t>
            </a:r>
            <a:endPar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fontAlgn="auto">
              <a:lnSpc>
                <a:spcPct val="125000"/>
              </a:lnSpc>
              <a:spcBef>
                <a:spcPct val="20000"/>
              </a:spcBef>
              <a:spcAft>
                <a:spcPts val="600"/>
              </a:spcAft>
              <a:buClr>
                <a:srgbClr val="C00000"/>
              </a:buClr>
              <a:buSzPct val="80000"/>
              <a:buNone/>
              <a:tabLst>
                <a:tab pos="457200" algn="l"/>
              </a:tabLst>
            </a:pPr>
            <a:r>
              <a:rPr lang="en-US" altLang="zh-CN" sz="2000" dirty="0">
                <a:latin typeface="微软雅黑" panose="020B0503020204020204" pitchFamily="34" charset="-122"/>
                <a:ea typeface="微软雅黑" panose="020B0503020204020204" pitchFamily="34" charset="-122"/>
              </a:rPr>
              <a:t>1</a:t>
            </a:r>
            <a:r>
              <a:rPr lang="zh-CN" altLang="en-US"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sym typeface="+mn-ea"/>
              </a:rPr>
              <a:t>如何理解全过程人民民主实现了过程民主和成果民主、程序民主和实质民主、直接民主和间接民主、人民民主与国家意志相统一？</a:t>
            </a:r>
            <a:endParaRPr lang="zh-CN" altLang="en-US" sz="2000" dirty="0">
              <a:latin typeface="微软雅黑" panose="020B0503020204020204" pitchFamily="34" charset="-122"/>
              <a:ea typeface="微软雅黑" panose="020B0503020204020204" pitchFamily="34" charset="-122"/>
            </a:endParaRPr>
          </a:p>
          <a:p>
            <a:pPr algn="just" fontAlgn="auto">
              <a:lnSpc>
                <a:spcPct val="125000"/>
              </a:lnSpc>
              <a:spcBef>
                <a:spcPct val="20000"/>
              </a:spcBef>
              <a:spcAft>
                <a:spcPts val="600"/>
              </a:spcAft>
              <a:buClr>
                <a:srgbClr val="C00000"/>
              </a:buClr>
              <a:buSzPct val="80000"/>
              <a:buNone/>
              <a:tabLst>
                <a:tab pos="457200" algn="l"/>
              </a:tabLst>
            </a:pPr>
            <a:r>
              <a:rPr lang="en-US" altLang="zh-CN" sz="2000" dirty="0">
                <a:latin typeface="微软雅黑" panose="020B0503020204020204" pitchFamily="34" charset="-122"/>
                <a:ea typeface="微软雅黑" panose="020B0503020204020204" pitchFamily="34" charset="-122"/>
              </a:rPr>
              <a:t>2.</a:t>
            </a:r>
            <a:r>
              <a:rPr lang="zh-CN" altLang="en-US" sz="2000" dirty="0">
                <a:latin typeface="微软雅黑" panose="020B0503020204020204" pitchFamily="34" charset="-122"/>
                <a:ea typeface="微软雅黑" panose="020B0503020204020204" pitchFamily="34" charset="-122"/>
              </a:rPr>
              <a:t>如何理解全过程人民民主是全链条、全方位、全覆盖的民主？</a:t>
            </a:r>
            <a:endParaRPr lang="zh-CN" altLang="en-US" sz="2000" dirty="0">
              <a:latin typeface="微软雅黑" panose="020B0503020204020204" pitchFamily="34" charset="-122"/>
              <a:ea typeface="微软雅黑" panose="020B0503020204020204" pitchFamily="34" charset="-122"/>
            </a:endParaRPr>
          </a:p>
          <a:p>
            <a:pPr algn="just" fontAlgn="auto">
              <a:lnSpc>
                <a:spcPct val="125000"/>
              </a:lnSpc>
              <a:spcBef>
                <a:spcPct val="20000"/>
              </a:spcBef>
              <a:spcAft>
                <a:spcPts val="600"/>
              </a:spcAft>
              <a:buClr>
                <a:srgbClr val="C00000"/>
              </a:buClr>
              <a:buSzPct val="80000"/>
              <a:buNone/>
              <a:tabLst>
                <a:tab pos="457200" algn="l"/>
              </a:tabLst>
            </a:pPr>
            <a:r>
              <a:rPr lang="en-US" altLang="zh-CN" sz="2000" dirty="0">
                <a:latin typeface="微软雅黑" panose="020B0503020204020204" pitchFamily="34" charset="-122"/>
                <a:ea typeface="微软雅黑" panose="020B0503020204020204" pitchFamily="34" charset="-122"/>
              </a:rPr>
              <a:t>3</a:t>
            </a:r>
            <a:r>
              <a:rPr lang="zh-CN" altLang="en-US" sz="2000" dirty="0">
                <a:latin typeface="微软雅黑" panose="020B0503020204020204" pitchFamily="34" charset="-122"/>
                <a:ea typeface="微软雅黑" panose="020B0503020204020204" pitchFamily="34" charset="-122"/>
              </a:rPr>
              <a:t>.如何理解全过程人民民主是最广泛、最真实、最管用的民主？</a:t>
            </a:r>
            <a:endParaRPr lang="zh-CN" altLang="en-US" sz="2000" dirty="0">
              <a:latin typeface="微软雅黑" panose="020B0503020204020204" pitchFamily="34" charset="-122"/>
              <a:ea typeface="微软雅黑" panose="020B0503020204020204" pitchFamily="34" charset="-122"/>
            </a:endParaRPr>
          </a:p>
        </p:txBody>
      </p:sp>
      <p:sp>
        <p:nvSpPr>
          <p:cNvPr id="4" name="对角圆角矩形 3"/>
          <p:cNvSpPr/>
          <p:nvPr/>
        </p:nvSpPr>
        <p:spPr>
          <a:xfrm flipH="1">
            <a:off x="1415480" y="764704"/>
            <a:ext cx="9073008" cy="703072"/>
          </a:xfrm>
          <a:prstGeom prst="round2DiagRect">
            <a:avLst/>
          </a:prstGeom>
          <a:gradFill>
            <a:gsLst>
              <a:gs pos="0">
                <a:srgbClr val="C00000"/>
              </a:gs>
              <a:gs pos="100000">
                <a:srgbClr val="AC251C"/>
              </a:gs>
            </a:gsLst>
            <a:lin ang="0" scaled="0"/>
          </a:gradFill>
          <a:ln>
            <a:noFill/>
          </a:ln>
          <a:effectLst>
            <a:outerShdw blurRad="50800" dist="38100" algn="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第八章</a:t>
            </a:r>
            <a:r>
              <a:rPr kumimoji="1" lang="en-US" altLang="zh-CN"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kumimoji="1" lang="zh-CN" altLang="en-US"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发展全过程人民民主</a:t>
            </a:r>
            <a:endParaRPr kumimoji="1" lang="zh-CN" altLang="en-US"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699"/>
    </mc:Choice>
    <mc:Fallback>
      <p:transition spd="med"/>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812418" y="1626782"/>
            <a:ext cx="10279132" cy="4436727"/>
          </a:xfrm>
          <a:prstGeom prst="rect">
            <a:avLst/>
          </a:prstGeom>
          <a:noFill/>
        </p:spPr>
        <p:txBody>
          <a:bodyPr wrap="square">
            <a:spAutoFit/>
          </a:bodyPr>
          <a:lstStyle/>
          <a:p>
            <a:pPr algn="just">
              <a:lnSpc>
                <a:spcPct val="200000"/>
              </a:lnSpc>
            </a:pPr>
            <a:r>
              <a:rPr lang="zh-CN" altLang="zh-CN" sz="2000" b="1" kern="100" dirty="0">
                <a:effectLst/>
                <a:latin typeface="Calibri" panose="020F0502020204030204" pitchFamily="34" charset="0"/>
                <a:ea typeface="微软雅黑" panose="020B0503020204020204" pitchFamily="34" charset="-122"/>
                <a:cs typeface="Times New Roman" panose="02020603050405020304" pitchFamily="18" charset="0"/>
              </a:rPr>
              <a:t>【重点识记】</a:t>
            </a:r>
            <a:endPar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50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1.</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rPr>
              <a:t>全面依法治国的重大意义</a:t>
            </a:r>
            <a:endParaRPr lang="en-US" altLang="zh-CN" sz="2000" kern="100" dirty="0">
              <a:latin typeface="Calibri" panose="020F0502020204030204" pitchFamily="34" charset="0"/>
              <a:ea typeface="微软雅黑" panose="020B0503020204020204" pitchFamily="34" charset="-122"/>
              <a:cs typeface="Times New Roman" panose="02020603050405020304" pitchFamily="18" charset="0"/>
            </a:endParaRPr>
          </a:p>
          <a:p>
            <a:pPr algn="just">
              <a:lnSpc>
                <a:spcPct val="150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2.</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rPr>
              <a:t>中国特色社会主义法治道路的核心要义和基本原则</a:t>
            </a:r>
            <a:endParaRPr lang="en-US" altLang="zh-CN" sz="2000" kern="100" dirty="0">
              <a:latin typeface="Calibri" panose="020F0502020204030204" pitchFamily="34" charset="0"/>
              <a:ea typeface="微软雅黑" panose="020B0503020204020204" pitchFamily="34" charset="-122"/>
              <a:cs typeface="Times New Roman" panose="02020603050405020304" pitchFamily="18" charset="0"/>
            </a:endParaRPr>
          </a:p>
          <a:p>
            <a:pPr algn="just">
              <a:lnSpc>
                <a:spcPct val="150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3.</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rPr>
              <a:t>中国特色社会主义法治体系的主要内容</a:t>
            </a:r>
            <a:endParaRPr lang="en-US" altLang="zh-CN" sz="2000" kern="100" dirty="0">
              <a:latin typeface="Calibri" panose="020F0502020204030204" pitchFamily="34" charset="0"/>
              <a:ea typeface="微软雅黑" panose="020B0503020204020204" pitchFamily="34" charset="-122"/>
              <a:cs typeface="Times New Roman" panose="02020603050405020304" pitchFamily="18" charset="0"/>
            </a:endParaRPr>
          </a:p>
          <a:p>
            <a:pPr algn="just">
              <a:lnSpc>
                <a:spcPct val="150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4.</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rPr>
              <a:t>加快推进法治中国建设的主要任务</a:t>
            </a:r>
            <a:endParaRPr lang="en-US" altLang="zh-CN" sz="2000" b="1" kern="100" dirty="0">
              <a:effectLst/>
              <a:latin typeface="Calibri" panose="020F0502020204030204" pitchFamily="34" charset="0"/>
              <a:ea typeface="微软雅黑" panose="020B0503020204020204" pitchFamily="34" charset="-122"/>
              <a:cs typeface="Times New Roman" panose="02020603050405020304" pitchFamily="18" charset="0"/>
            </a:endParaRPr>
          </a:p>
          <a:p>
            <a:pPr algn="just">
              <a:lnSpc>
                <a:spcPct val="150000"/>
              </a:lnSpc>
            </a:pPr>
            <a:r>
              <a:rPr lang="zh-CN" altLang="zh-CN" sz="2000" b="1" kern="100" dirty="0">
                <a:effectLst/>
                <a:latin typeface="Calibri" panose="020F0502020204030204" pitchFamily="34" charset="0"/>
                <a:ea typeface="微软雅黑" panose="020B0503020204020204" pitchFamily="34" charset="-122"/>
                <a:cs typeface="Times New Roman" panose="02020603050405020304" pitchFamily="18" charset="0"/>
              </a:rPr>
              <a:t>【重点阐释】</a:t>
            </a:r>
            <a:endPar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60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1.</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rPr>
              <a:t>为什么说全面依法治国是国家治理的一场深刻革命</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sym typeface="+mn-ea"/>
              </a:rPr>
              <a:t>？</a:t>
            </a:r>
            <a:endParaRPr lang="zh-CN" altLang="en-US" sz="2000" kern="100" dirty="0">
              <a:latin typeface="Calibri" panose="020F0502020204030204" pitchFamily="34" charset="0"/>
              <a:ea typeface="微软雅黑" panose="020B0503020204020204" pitchFamily="34" charset="-122"/>
              <a:cs typeface="Times New Roman" panose="02020603050405020304" pitchFamily="18" charset="0"/>
            </a:endParaRPr>
          </a:p>
          <a:p>
            <a:pPr algn="just">
              <a:lnSpc>
                <a:spcPct val="160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2.</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rPr>
              <a:t>如何理解中国特色社会主义法治道路是全面依法治国的唯一正确道路</a:t>
            </a:r>
            <a:r>
              <a:rPr lang="zh-CN" altLang="zh-CN" sz="2000" kern="100" dirty="0">
                <a:latin typeface="Calibri" panose="020F0502020204030204" pitchFamily="34" charset="0"/>
                <a:ea typeface="微软雅黑" panose="020B0503020204020204" pitchFamily="34" charset="-122"/>
                <a:cs typeface="Times New Roman" panose="02020603050405020304" pitchFamily="18" charset="0"/>
              </a:rPr>
              <a:t>？</a:t>
            </a:r>
            <a:endParaRPr lang="en-US" altLang="zh-CN" sz="2000" kern="100" dirty="0">
              <a:latin typeface="Calibri" panose="020F0502020204030204" pitchFamily="34" charset="0"/>
              <a:ea typeface="微软雅黑" panose="020B0503020204020204" pitchFamily="34" charset="-122"/>
              <a:cs typeface="Times New Roman" panose="02020603050405020304" pitchFamily="18" charset="0"/>
            </a:endParaRPr>
          </a:p>
          <a:p>
            <a:pPr algn="just">
              <a:lnSpc>
                <a:spcPct val="160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3.</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rPr>
              <a:t>如何理解从“法制”到“法治”的发展</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rPr>
              <a:t>？</a:t>
            </a:r>
            <a:endParaRPr lang="en-US" altLang="zh-CN" sz="2000" kern="100" dirty="0">
              <a:latin typeface="Calibri" panose="020F0502020204030204" pitchFamily="34" charset="0"/>
              <a:ea typeface="微软雅黑" panose="020B0503020204020204" pitchFamily="34" charset="-122"/>
              <a:cs typeface="Times New Roman" panose="02020603050405020304" pitchFamily="18" charset="0"/>
            </a:endParaRPr>
          </a:p>
        </p:txBody>
      </p:sp>
      <p:sp>
        <p:nvSpPr>
          <p:cNvPr id="4" name="对角圆角矩形 3"/>
          <p:cNvSpPr/>
          <p:nvPr/>
        </p:nvSpPr>
        <p:spPr>
          <a:xfrm flipH="1">
            <a:off x="1415480" y="764704"/>
            <a:ext cx="9073008" cy="703072"/>
          </a:xfrm>
          <a:prstGeom prst="round2DiagRect">
            <a:avLst/>
          </a:prstGeom>
          <a:gradFill>
            <a:gsLst>
              <a:gs pos="0">
                <a:srgbClr val="C00000"/>
              </a:gs>
              <a:gs pos="100000">
                <a:srgbClr val="AC251C"/>
              </a:gs>
            </a:gsLst>
            <a:lin ang="0" scaled="0"/>
          </a:gradFill>
          <a:ln>
            <a:noFill/>
          </a:ln>
          <a:effectLst>
            <a:outerShdw blurRad="50800" dist="38100" algn="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第九章</a:t>
            </a:r>
            <a:r>
              <a:rPr kumimoji="1" lang="en-US" altLang="zh-CN"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kumimoji="1" lang="zh-CN" altLang="en-US"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全面依法治国</a:t>
            </a:r>
            <a:endParaRPr kumimoji="1" lang="zh-CN" altLang="en-US"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56434" y="1664732"/>
            <a:ext cx="10279132" cy="4198201"/>
          </a:xfrm>
          <a:prstGeom prst="rect">
            <a:avLst/>
          </a:prstGeom>
          <a:noFill/>
        </p:spPr>
        <p:txBody>
          <a:bodyPr wrap="square">
            <a:spAutoFit/>
          </a:bodyPr>
          <a:lstStyle/>
          <a:p>
            <a:pPr algn="just">
              <a:lnSpc>
                <a:spcPct val="150000"/>
              </a:lnSpc>
            </a:pPr>
            <a:r>
              <a:rPr lang="zh-CN" altLang="zh-CN" sz="2000" b="1" kern="100" dirty="0">
                <a:effectLst/>
                <a:latin typeface="Calibri" panose="020F0502020204030204" pitchFamily="34" charset="0"/>
                <a:ea typeface="微软雅黑" panose="020B0503020204020204" pitchFamily="34" charset="-122"/>
                <a:cs typeface="Times New Roman" panose="02020603050405020304" pitchFamily="18" charset="0"/>
              </a:rPr>
              <a:t>【重点识记】</a:t>
            </a:r>
            <a:endParaRPr lang="zh-CN" altLang="zh-CN" sz="2000" b="1" kern="100" dirty="0">
              <a:effectLst/>
              <a:latin typeface="Calibri" panose="020F0502020204030204" pitchFamily="34" charset="0"/>
              <a:ea typeface="微软雅黑" panose="020B0503020204020204" pitchFamily="34" charset="-122"/>
              <a:cs typeface="Times New Roman" panose="02020603050405020304" pitchFamily="18" charset="0"/>
            </a:endParaRPr>
          </a:p>
          <a:p>
            <a:pPr algn="just">
              <a:lnSpc>
                <a:spcPct val="150000"/>
              </a:lnSpc>
            </a:pPr>
            <a:r>
              <a:rPr lang="en-US" altLang="zh-CN" sz="2000" kern="100" dirty="0">
                <a:effectLst/>
                <a:latin typeface="Calibri" panose="020F0502020204030204" pitchFamily="34" charset="0"/>
                <a:ea typeface="微软雅黑" panose="020B0503020204020204" pitchFamily="34" charset="-122"/>
                <a:cs typeface="Times New Roman" panose="02020603050405020304" pitchFamily="18" charset="0"/>
                <a:sym typeface="+mn-ea"/>
              </a:rPr>
              <a:t>1.</a:t>
            </a:r>
            <a:r>
              <a:rPr lang="zh-CN" altLang="en-US" sz="2000" kern="100" dirty="0">
                <a:effectLst/>
                <a:latin typeface="Calibri" panose="020F0502020204030204" pitchFamily="34" charset="0"/>
                <a:ea typeface="微软雅黑" panose="020B0503020204020204" pitchFamily="34" charset="-122"/>
                <a:cs typeface="Times New Roman" panose="02020603050405020304" pitchFamily="18" charset="0"/>
                <a:sym typeface="+mn-ea"/>
              </a:rPr>
              <a:t>文化自信是实现中华民族伟大复兴的强大精神力量</a:t>
            </a:r>
            <a:endParaRPr lang="zh-CN" altLang="zh-CN" sz="2000" kern="100" dirty="0">
              <a:effectLst/>
              <a:latin typeface="Calibri" panose="020F0502020204030204" pitchFamily="34" charset="0"/>
              <a:ea typeface="微软雅黑" panose="020B0503020204020204" pitchFamily="34" charset="-122"/>
              <a:cs typeface="Times New Roman" panose="02020603050405020304" pitchFamily="18" charset="0"/>
            </a:endParaRPr>
          </a:p>
          <a:p>
            <a:pPr algn="just">
              <a:lnSpc>
                <a:spcPct val="150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2.</a:t>
            </a:r>
            <a:r>
              <a:rPr lang="zh-CN" altLang="en-US" sz="2000" kern="100" dirty="0">
                <a:effectLst/>
                <a:latin typeface="Calibri" panose="020F0502020204030204" pitchFamily="34" charset="0"/>
                <a:ea typeface="微软雅黑" panose="020B0503020204020204" pitchFamily="34" charset="-122"/>
                <a:cs typeface="Times New Roman" panose="02020603050405020304" pitchFamily="18" charset="0"/>
              </a:rPr>
              <a:t>坚持马克思主义在意识形态领域指导地位的根本制度</a:t>
            </a:r>
            <a:endParaRPr lang="zh-CN" altLang="zh-CN" sz="2000" kern="100" dirty="0">
              <a:effectLst/>
              <a:latin typeface="Calibri" panose="020F0502020204030204" pitchFamily="34" charset="0"/>
              <a:ea typeface="微软雅黑" panose="020B0503020204020204" pitchFamily="34" charset="-122"/>
              <a:cs typeface="Times New Roman" panose="02020603050405020304" pitchFamily="18" charset="0"/>
            </a:endParaRPr>
          </a:p>
          <a:p>
            <a:pPr algn="just">
              <a:lnSpc>
                <a:spcPct val="150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3.</a:t>
            </a:r>
            <a:r>
              <a:rPr lang="zh-CN" altLang="en-US" sz="2000" kern="100" dirty="0">
                <a:effectLst/>
                <a:latin typeface="Calibri" panose="020F0502020204030204" pitchFamily="34" charset="0"/>
                <a:ea typeface="微软雅黑" panose="020B0503020204020204" pitchFamily="34" charset="-122"/>
                <a:cs typeface="Times New Roman" panose="02020603050405020304" pitchFamily="18" charset="0"/>
              </a:rPr>
              <a:t>培育和践行社会主义核心价值观的基本要求</a:t>
            </a:r>
            <a:endParaRPr lang="en-US" altLang="zh-CN" sz="2000" kern="100" dirty="0">
              <a:effectLst/>
              <a:latin typeface="Calibri" panose="020F0502020204030204" pitchFamily="34" charset="0"/>
              <a:ea typeface="微软雅黑" panose="020B0503020204020204" pitchFamily="34" charset="-122"/>
              <a:cs typeface="Times New Roman" panose="02020603050405020304" pitchFamily="18" charset="0"/>
            </a:endParaRPr>
          </a:p>
          <a:p>
            <a:pPr algn="just">
              <a:lnSpc>
                <a:spcPct val="150000"/>
              </a:lnSpc>
            </a:pPr>
            <a:r>
              <a:rPr lang="en-US" altLang="zh-CN" sz="2000" kern="100" dirty="0">
                <a:effectLst/>
                <a:latin typeface="Calibri" panose="020F0502020204030204" pitchFamily="34" charset="0"/>
                <a:ea typeface="微软雅黑" panose="020B0503020204020204" pitchFamily="34" charset="-122"/>
                <a:cs typeface="Times New Roman" panose="02020603050405020304" pitchFamily="18" charset="0"/>
              </a:rPr>
              <a:t>4.</a:t>
            </a:r>
            <a:r>
              <a:rPr lang="zh-CN" altLang="en-US" sz="2000" kern="100" dirty="0">
                <a:effectLst/>
                <a:latin typeface="Calibri" panose="020F0502020204030204" pitchFamily="34" charset="0"/>
                <a:ea typeface="微软雅黑" panose="020B0503020204020204" pitchFamily="34" charset="-122"/>
                <a:cs typeface="Times New Roman" panose="02020603050405020304" pitchFamily="18" charset="0"/>
              </a:rPr>
              <a:t>中华文明的突出特性</a:t>
            </a:r>
            <a:endParaRPr lang="zh-CN" altLang="zh-CN" sz="2000" kern="100" dirty="0">
              <a:effectLst/>
              <a:latin typeface="Calibri" panose="020F0502020204030204" pitchFamily="34" charset="0"/>
              <a:ea typeface="微软雅黑" panose="020B0503020204020204" pitchFamily="34" charset="-122"/>
              <a:cs typeface="Times New Roman" panose="02020603050405020304" pitchFamily="18" charset="0"/>
            </a:endParaRPr>
          </a:p>
          <a:p>
            <a:pPr algn="just">
              <a:lnSpc>
                <a:spcPct val="150000"/>
              </a:lnSpc>
            </a:pPr>
            <a:r>
              <a:rPr lang="zh-CN" altLang="zh-CN" sz="2000" b="1" kern="100" dirty="0">
                <a:effectLst/>
                <a:latin typeface="Calibri" panose="020F0502020204030204" pitchFamily="34" charset="0"/>
                <a:ea typeface="微软雅黑" panose="020B0503020204020204" pitchFamily="34" charset="-122"/>
                <a:cs typeface="Times New Roman" panose="02020603050405020304" pitchFamily="18" charset="0"/>
              </a:rPr>
              <a:t>【重点阐释】</a:t>
            </a:r>
            <a:endPar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50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sym typeface="+mn-ea"/>
              </a:rPr>
              <a:t>1.</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sym typeface="+mn-ea"/>
              </a:rPr>
              <a:t>为什么说文化自信是</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一个国家、一个民族发展中最基本、最深沉、最持久的力量</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sym typeface="+mn-ea"/>
              </a:rPr>
              <a:t>？</a:t>
            </a:r>
            <a:endParaRPr lang="en-US" altLang="zh-CN" sz="2000" kern="100" dirty="0">
              <a:latin typeface="Calibri" panose="020F0502020204030204" pitchFamily="34" charset="0"/>
              <a:ea typeface="微软雅黑" panose="020B0503020204020204" pitchFamily="34" charset="-122"/>
              <a:cs typeface="Times New Roman" panose="02020603050405020304" pitchFamily="18" charset="0"/>
            </a:endParaRPr>
          </a:p>
          <a:p>
            <a:pPr algn="just">
              <a:lnSpc>
                <a:spcPct val="150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2.</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rPr>
              <a:t>为什么要坚持马克思主义在意识形态领域指导地位的根本制度？</a:t>
            </a:r>
            <a:endParaRPr lang="en-US" altLang="zh-CN" sz="2000" kern="100" dirty="0">
              <a:latin typeface="Calibri" panose="020F0502020204030204" pitchFamily="34" charset="0"/>
              <a:ea typeface="微软雅黑" panose="020B0503020204020204" pitchFamily="34" charset="-122"/>
              <a:cs typeface="Times New Roman" panose="02020603050405020304" pitchFamily="18" charset="0"/>
            </a:endParaRPr>
          </a:p>
          <a:p>
            <a:pPr algn="just">
              <a:lnSpc>
                <a:spcPct val="150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4.</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rPr>
              <a:t>如何理解和推动中华优秀传统文化的创造性转化、创新性发展</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rPr>
              <a:t>？</a:t>
            </a:r>
            <a:endParaRPr lang="en-US" altLang="zh-CN" sz="2000" kern="100" dirty="0">
              <a:latin typeface="Calibri" panose="020F0502020204030204" pitchFamily="34" charset="0"/>
              <a:ea typeface="微软雅黑" panose="020B0503020204020204" pitchFamily="34" charset="-122"/>
              <a:cs typeface="Times New Roman" panose="02020603050405020304" pitchFamily="18" charset="0"/>
            </a:endParaRPr>
          </a:p>
        </p:txBody>
      </p:sp>
      <p:sp>
        <p:nvSpPr>
          <p:cNvPr id="5" name="对角圆角矩形 3"/>
          <p:cNvSpPr/>
          <p:nvPr/>
        </p:nvSpPr>
        <p:spPr>
          <a:xfrm flipH="1">
            <a:off x="1490894" y="759571"/>
            <a:ext cx="9073008" cy="703072"/>
          </a:xfrm>
          <a:prstGeom prst="round2DiagRect">
            <a:avLst/>
          </a:prstGeom>
          <a:gradFill>
            <a:gsLst>
              <a:gs pos="0">
                <a:srgbClr val="C00000"/>
              </a:gs>
              <a:gs pos="100000">
                <a:srgbClr val="AC251C"/>
              </a:gs>
            </a:gsLst>
            <a:lin ang="0" scaled="0"/>
          </a:gradFill>
          <a:ln>
            <a:noFill/>
          </a:ln>
          <a:effectLst>
            <a:outerShdw blurRad="50800" dist="38100" algn="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第十章</a:t>
            </a:r>
            <a:r>
              <a:rPr kumimoji="1" lang="en-US" altLang="zh-CN"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kumimoji="1" lang="zh-CN" altLang="en-US"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建设社会主义文化强国</a:t>
            </a:r>
            <a:endParaRPr kumimoji="1" lang="zh-CN" altLang="en-US"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767408" y="1988840"/>
            <a:ext cx="10821944" cy="3736536"/>
          </a:xfrm>
          <a:prstGeom prst="rect">
            <a:avLst/>
          </a:prstGeom>
          <a:noFill/>
        </p:spPr>
        <p:txBody>
          <a:bodyPr wrap="square">
            <a:spAutoFit/>
          </a:bodyPr>
          <a:lstStyle/>
          <a:p>
            <a:pPr algn="just">
              <a:lnSpc>
                <a:spcPct val="150000"/>
              </a:lnSpc>
            </a:pPr>
            <a:r>
              <a:rPr lang="zh-CN" altLang="zh-CN" sz="2000" b="1" kern="100" dirty="0">
                <a:effectLst/>
                <a:latin typeface="Calibri" panose="020F0502020204030204" pitchFamily="34" charset="0"/>
                <a:ea typeface="微软雅黑" panose="020B0503020204020204" pitchFamily="34" charset="-122"/>
                <a:cs typeface="Times New Roman" panose="02020603050405020304" pitchFamily="18" charset="0"/>
              </a:rPr>
              <a:t>【</a:t>
            </a:r>
            <a:r>
              <a:rPr lang="zh-CN" altLang="en-US" sz="2000" b="1" kern="100" dirty="0">
                <a:effectLst/>
                <a:latin typeface="Calibri" panose="020F0502020204030204" pitchFamily="34" charset="0"/>
                <a:ea typeface="微软雅黑" panose="020B0503020204020204" pitchFamily="34" charset="-122"/>
                <a:cs typeface="Times New Roman" panose="02020603050405020304" pitchFamily="18" charset="0"/>
              </a:rPr>
              <a:t>重点识记</a:t>
            </a:r>
            <a:r>
              <a:rPr lang="zh-CN" altLang="zh-CN" sz="2000" b="1" kern="100" dirty="0">
                <a:effectLst/>
                <a:latin typeface="Calibri" panose="020F0502020204030204" pitchFamily="34" charset="0"/>
                <a:ea typeface="微软雅黑" panose="020B0503020204020204" pitchFamily="34" charset="-122"/>
                <a:cs typeface="Times New Roman" panose="02020603050405020304" pitchFamily="18" charset="0"/>
              </a:rPr>
              <a:t>】</a:t>
            </a:r>
            <a:endPar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50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1.</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rPr>
              <a:t>在发展中增进民生福祉</a:t>
            </a:r>
            <a:endParaRPr lang="en-US" altLang="zh-CN" sz="2000" kern="100" dirty="0">
              <a:latin typeface="Calibri" panose="020F0502020204030204" pitchFamily="34" charset="0"/>
              <a:ea typeface="微软雅黑" panose="020B0503020204020204" pitchFamily="34" charset="-122"/>
              <a:cs typeface="Times New Roman" panose="02020603050405020304" pitchFamily="18" charset="0"/>
            </a:endParaRPr>
          </a:p>
          <a:p>
            <a:pPr algn="just">
              <a:lnSpc>
                <a:spcPct val="150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2.</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rPr>
              <a:t>提高人民生活品质的主要着力点</a:t>
            </a:r>
            <a:endParaRPr lang="en-US" altLang="zh-CN" sz="2000" kern="100" dirty="0">
              <a:latin typeface="Calibri" panose="020F0502020204030204" pitchFamily="34" charset="0"/>
              <a:ea typeface="微软雅黑" panose="020B0503020204020204" pitchFamily="34" charset="-122"/>
              <a:cs typeface="Times New Roman" panose="02020603050405020304" pitchFamily="18" charset="0"/>
            </a:endParaRPr>
          </a:p>
          <a:p>
            <a:pPr algn="just">
              <a:lnSpc>
                <a:spcPct val="150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3.</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rPr>
              <a:t>加强和创新社会治理的意义和要求</a:t>
            </a:r>
            <a:endParaRPr lang="en-US" altLang="zh-CN" sz="2000" kern="100" dirty="0">
              <a:latin typeface="Calibri" panose="020F0502020204030204" pitchFamily="34" charset="0"/>
              <a:ea typeface="微软雅黑" panose="020B0503020204020204" pitchFamily="34" charset="-122"/>
              <a:cs typeface="Times New Roman" panose="02020603050405020304" pitchFamily="18" charset="0"/>
            </a:endParaRPr>
          </a:p>
          <a:p>
            <a:pPr algn="just">
              <a:lnSpc>
                <a:spcPct val="150000"/>
              </a:lnSpc>
            </a:pPr>
            <a:r>
              <a:rPr lang="zh-CN" altLang="zh-CN" sz="2000" b="1" kern="100" dirty="0">
                <a:effectLst/>
                <a:latin typeface="Calibri" panose="020F0502020204030204" pitchFamily="34" charset="0"/>
                <a:ea typeface="微软雅黑" panose="020B0503020204020204" pitchFamily="34" charset="-122"/>
                <a:cs typeface="Times New Roman" panose="02020603050405020304" pitchFamily="18" charset="0"/>
              </a:rPr>
              <a:t>【</a:t>
            </a:r>
            <a:r>
              <a:rPr lang="zh-CN" altLang="en-US" sz="2000" b="1" kern="100" dirty="0">
                <a:effectLst/>
                <a:latin typeface="Calibri" panose="020F0502020204030204" pitchFamily="34" charset="0"/>
                <a:ea typeface="微软雅黑" panose="020B0503020204020204" pitchFamily="34" charset="-122"/>
                <a:cs typeface="Times New Roman" panose="02020603050405020304" pitchFamily="18" charset="0"/>
              </a:rPr>
              <a:t>重点阐释</a:t>
            </a:r>
            <a:r>
              <a:rPr lang="zh-CN" altLang="zh-CN" sz="2000" b="1" kern="100" dirty="0">
                <a:effectLst/>
                <a:latin typeface="Calibri" panose="020F0502020204030204" pitchFamily="34" charset="0"/>
                <a:ea typeface="微软雅黑" panose="020B0503020204020204" pitchFamily="34" charset="-122"/>
                <a:cs typeface="Times New Roman" panose="02020603050405020304" pitchFamily="18" charset="0"/>
              </a:rPr>
              <a:t>】</a:t>
            </a:r>
            <a:endPar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50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1.</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sym typeface="+mn-ea"/>
              </a:rPr>
              <a:t>为什么要增进民生福祉？</a:t>
            </a:r>
            <a:endParaRPr lang="zh-CN" altLang="en-US" sz="2000" kern="100" dirty="0">
              <a:latin typeface="Calibri" panose="020F0502020204030204" pitchFamily="34" charset="0"/>
              <a:ea typeface="微软雅黑" panose="020B0503020204020204" pitchFamily="34" charset="-122"/>
              <a:cs typeface="Times New Roman" panose="02020603050405020304" pitchFamily="18" charset="0"/>
            </a:endParaRPr>
          </a:p>
          <a:p>
            <a:pPr algn="just">
              <a:lnSpc>
                <a:spcPct val="150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2.</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sym typeface="+mn-ea"/>
              </a:rPr>
              <a:t>如何理解在发展中增进民生福祉</a:t>
            </a:r>
            <a:r>
              <a:rPr lang="zh-CN" altLang="zh-CN" sz="2000" kern="100" dirty="0">
                <a:latin typeface="Calibri" panose="020F0502020204030204" pitchFamily="34" charset="0"/>
                <a:ea typeface="微软雅黑" panose="020B0503020204020204" pitchFamily="34" charset="-122"/>
                <a:cs typeface="Times New Roman" panose="02020603050405020304" pitchFamily="18" charset="0"/>
              </a:rPr>
              <a:t>？</a:t>
            </a:r>
            <a:endParaRPr lang="en-US" altLang="zh-CN" sz="2000" kern="100" dirty="0">
              <a:latin typeface="Calibri" panose="020F0502020204030204" pitchFamily="34" charset="0"/>
              <a:ea typeface="微软雅黑" panose="020B0503020204020204" pitchFamily="34" charset="-122"/>
              <a:cs typeface="Times New Roman" panose="02020603050405020304" pitchFamily="18" charset="0"/>
            </a:endParaRPr>
          </a:p>
          <a:p>
            <a:pPr algn="just">
              <a:lnSpc>
                <a:spcPct val="150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3.</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sym typeface="+mn-ea"/>
              </a:rPr>
              <a:t>如何理解在推进社会治理现代化过程中要坚持共建共治共享</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rPr>
              <a:t>？</a:t>
            </a:r>
            <a:endParaRPr lang="zh-CN" altLang="en-US" sz="2000" kern="100" dirty="0">
              <a:latin typeface="Calibri" panose="020F0502020204030204" pitchFamily="34" charset="0"/>
              <a:ea typeface="微软雅黑" panose="020B0503020204020204" pitchFamily="34" charset="-122"/>
              <a:cs typeface="Times New Roman" panose="02020603050405020304" pitchFamily="18" charset="0"/>
            </a:endParaRPr>
          </a:p>
        </p:txBody>
      </p:sp>
      <p:sp>
        <p:nvSpPr>
          <p:cNvPr id="4" name="对角圆角矩形 3"/>
          <p:cNvSpPr/>
          <p:nvPr/>
        </p:nvSpPr>
        <p:spPr>
          <a:xfrm flipH="1">
            <a:off x="1415480" y="764704"/>
            <a:ext cx="9073008" cy="703072"/>
          </a:xfrm>
          <a:prstGeom prst="round2DiagRect">
            <a:avLst/>
          </a:prstGeom>
          <a:gradFill>
            <a:gsLst>
              <a:gs pos="0">
                <a:srgbClr val="C00000"/>
              </a:gs>
              <a:gs pos="100000">
                <a:srgbClr val="AC251C"/>
              </a:gs>
            </a:gsLst>
            <a:lin ang="0" scaled="0"/>
          </a:gradFill>
          <a:ln>
            <a:noFill/>
          </a:ln>
          <a:effectLst>
            <a:outerShdw blurRad="50800" dist="38100" algn="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第十一章</a:t>
            </a:r>
            <a:r>
              <a:rPr kumimoji="1" lang="en-US" altLang="zh-CN"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 </a:t>
            </a:r>
            <a:r>
              <a:rPr kumimoji="1" lang="zh-CN" altLang="en-US"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sym typeface="+mn-ea"/>
              </a:rPr>
              <a:t>以保障和改善民生为重点</a:t>
            </a:r>
            <a:r>
              <a:rPr kumimoji="1" lang="zh-CN" altLang="en-US"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加强社会建设</a:t>
            </a:r>
            <a:endParaRPr kumimoji="1" lang="zh-CN" altLang="en-US"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56434" y="1989795"/>
            <a:ext cx="10279132" cy="3274871"/>
          </a:xfrm>
          <a:prstGeom prst="rect">
            <a:avLst/>
          </a:prstGeom>
          <a:noFill/>
        </p:spPr>
        <p:txBody>
          <a:bodyPr wrap="square">
            <a:spAutoFit/>
          </a:bodyPr>
          <a:lstStyle/>
          <a:p>
            <a:pPr algn="just">
              <a:lnSpc>
                <a:spcPct val="150000"/>
              </a:lnSpc>
            </a:pPr>
            <a:r>
              <a:rPr lang="zh-CN" altLang="zh-CN" sz="2000" b="1" kern="100" dirty="0">
                <a:effectLst/>
                <a:latin typeface="Calibri" panose="020F0502020204030204" pitchFamily="34" charset="0"/>
                <a:ea typeface="微软雅黑" panose="020B0503020204020204" pitchFamily="34" charset="-122"/>
                <a:cs typeface="Times New Roman" panose="02020603050405020304" pitchFamily="18" charset="0"/>
              </a:rPr>
              <a:t>【重点识记】</a:t>
            </a:r>
            <a:endParaRPr lang="zh-CN" altLang="zh-CN" sz="2000" b="1" kern="100" dirty="0">
              <a:effectLst/>
              <a:latin typeface="Calibri" panose="020F0502020204030204" pitchFamily="34" charset="0"/>
              <a:ea typeface="微软雅黑" panose="020B0503020204020204" pitchFamily="34" charset="-122"/>
              <a:cs typeface="Times New Roman" panose="02020603050405020304" pitchFamily="18" charset="0"/>
            </a:endParaRPr>
          </a:p>
          <a:p>
            <a:pPr algn="just">
              <a:lnSpc>
                <a:spcPct val="150000"/>
              </a:lnSpc>
            </a:pPr>
            <a:r>
              <a:rPr lang="en-US" altLang="zh-CN" sz="2000" kern="100" dirty="0">
                <a:effectLst/>
                <a:latin typeface="Calibri" panose="020F0502020204030204" pitchFamily="34" charset="0"/>
                <a:ea typeface="微软雅黑" panose="020B0503020204020204" pitchFamily="34" charset="-122"/>
                <a:cs typeface="Times New Roman" panose="02020603050405020304" pitchFamily="18" charset="0"/>
                <a:sym typeface="+mn-ea"/>
              </a:rPr>
              <a:t>1.</a:t>
            </a:r>
            <a:r>
              <a:rPr lang="zh-CN" altLang="en-US" sz="2000" kern="100" dirty="0">
                <a:effectLst/>
                <a:latin typeface="Calibri" panose="020F0502020204030204" pitchFamily="34" charset="0"/>
                <a:ea typeface="微软雅黑" panose="020B0503020204020204" pitchFamily="34" charset="-122"/>
                <a:cs typeface="Times New Roman" panose="02020603050405020304" pitchFamily="18" charset="0"/>
                <a:sym typeface="+mn-ea"/>
              </a:rPr>
              <a:t>绿水青山就是金山银山的科学内涵</a:t>
            </a:r>
            <a:endParaRPr lang="en-US" altLang="zh-CN" sz="2000" kern="100" dirty="0">
              <a:effectLst/>
              <a:latin typeface="Calibri" panose="020F0502020204030204" pitchFamily="34" charset="0"/>
              <a:ea typeface="微软雅黑" panose="020B0503020204020204" pitchFamily="34" charset="-122"/>
              <a:cs typeface="Times New Roman" panose="02020603050405020304" pitchFamily="18" charset="0"/>
              <a:sym typeface="+mn-ea"/>
            </a:endParaRPr>
          </a:p>
          <a:p>
            <a:pPr algn="just">
              <a:lnSpc>
                <a:spcPct val="150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sym typeface="+mn-ea"/>
              </a:rPr>
              <a:t>2.</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sym typeface="+mn-ea"/>
              </a:rPr>
              <a:t>建设美丽中国的主要任务</a:t>
            </a:r>
            <a:endParaRPr lang="en-US" altLang="zh-CN" sz="2000" kern="100" dirty="0">
              <a:latin typeface="Calibri" panose="020F0502020204030204" pitchFamily="34" charset="0"/>
              <a:ea typeface="微软雅黑" panose="020B0503020204020204" pitchFamily="34" charset="-122"/>
              <a:cs typeface="Times New Roman" panose="02020603050405020304" pitchFamily="18" charset="0"/>
              <a:sym typeface="+mn-ea"/>
            </a:endParaRPr>
          </a:p>
          <a:p>
            <a:pPr algn="just">
              <a:lnSpc>
                <a:spcPct val="150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sym typeface="+mn-ea"/>
              </a:rPr>
              <a:t>3.</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sym typeface="+mn-ea"/>
              </a:rPr>
              <a:t>全球环境治理的中国方案</a:t>
            </a:r>
            <a:endParaRPr lang="zh-CN" altLang="zh-CN" sz="2000" kern="100" dirty="0">
              <a:effectLst/>
              <a:latin typeface="Calibri" panose="020F0502020204030204" pitchFamily="34" charset="0"/>
              <a:ea typeface="微软雅黑" panose="020B0503020204020204" pitchFamily="34" charset="-122"/>
              <a:cs typeface="Times New Roman" panose="02020603050405020304" pitchFamily="18" charset="0"/>
            </a:endParaRPr>
          </a:p>
          <a:p>
            <a:pPr algn="just">
              <a:lnSpc>
                <a:spcPct val="150000"/>
              </a:lnSpc>
            </a:pPr>
            <a:r>
              <a:rPr lang="zh-CN" altLang="zh-CN" sz="2000" b="1" kern="100" dirty="0">
                <a:effectLst/>
                <a:latin typeface="Calibri" panose="020F0502020204030204" pitchFamily="34" charset="0"/>
                <a:ea typeface="微软雅黑" panose="020B0503020204020204" pitchFamily="34" charset="-122"/>
                <a:cs typeface="Times New Roman" panose="02020603050405020304" pitchFamily="18" charset="0"/>
              </a:rPr>
              <a:t>【重点阐释】</a:t>
            </a:r>
            <a:endPar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50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sym typeface="+mn-ea"/>
              </a:rPr>
              <a:t>1.</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sym typeface="+mn-ea"/>
              </a:rPr>
              <a:t>如何理解“生态兴则文明兴”？</a:t>
            </a:r>
            <a:endParaRPr lang="en-US" altLang="zh-CN" sz="2000" kern="100" dirty="0">
              <a:latin typeface="Calibri" panose="020F0502020204030204" pitchFamily="34" charset="0"/>
              <a:ea typeface="微软雅黑" panose="020B0503020204020204" pitchFamily="34" charset="-122"/>
              <a:cs typeface="Times New Roman" panose="02020603050405020304" pitchFamily="18" charset="0"/>
            </a:endParaRPr>
          </a:p>
          <a:p>
            <a:pPr algn="just">
              <a:lnSpc>
                <a:spcPct val="150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2.</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rPr>
              <a:t>怎样加快发展方式绿色转型？</a:t>
            </a:r>
            <a:endParaRPr lang="en-US" altLang="zh-CN" sz="2000" kern="100" dirty="0">
              <a:latin typeface="Calibri" panose="020F0502020204030204" pitchFamily="34" charset="0"/>
              <a:ea typeface="微软雅黑" panose="020B0503020204020204" pitchFamily="34" charset="-122"/>
              <a:cs typeface="Times New Roman" panose="02020603050405020304" pitchFamily="18" charset="0"/>
            </a:endParaRPr>
          </a:p>
        </p:txBody>
      </p:sp>
      <p:sp>
        <p:nvSpPr>
          <p:cNvPr id="5" name="对角圆角矩形 3"/>
          <p:cNvSpPr/>
          <p:nvPr/>
        </p:nvSpPr>
        <p:spPr>
          <a:xfrm flipH="1">
            <a:off x="1490894" y="759571"/>
            <a:ext cx="9073008" cy="703072"/>
          </a:xfrm>
          <a:prstGeom prst="round2DiagRect">
            <a:avLst/>
          </a:prstGeom>
          <a:gradFill>
            <a:gsLst>
              <a:gs pos="0">
                <a:srgbClr val="C00000"/>
              </a:gs>
              <a:gs pos="100000">
                <a:srgbClr val="AC251C"/>
              </a:gs>
            </a:gsLst>
            <a:lin ang="0" scaled="0"/>
          </a:gradFill>
          <a:ln>
            <a:noFill/>
          </a:ln>
          <a:effectLst>
            <a:outerShdw blurRad="50800" dist="38100" algn="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第十二章</a:t>
            </a:r>
            <a:r>
              <a:rPr kumimoji="1" lang="en-US" altLang="zh-CN"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kumimoji="1" lang="zh-CN" altLang="en-US"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建设社会主义生态文明</a:t>
            </a:r>
            <a:endParaRPr kumimoji="1" lang="zh-CN" altLang="en-US"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56434" y="1989795"/>
            <a:ext cx="10279132" cy="3784600"/>
          </a:xfrm>
          <a:prstGeom prst="rect">
            <a:avLst/>
          </a:prstGeom>
          <a:noFill/>
        </p:spPr>
        <p:txBody>
          <a:bodyPr wrap="square">
            <a:spAutoFit/>
          </a:bodyPr>
          <a:lstStyle/>
          <a:p>
            <a:pPr algn="just">
              <a:lnSpc>
                <a:spcPct val="150000"/>
              </a:lnSpc>
            </a:pPr>
            <a:r>
              <a:rPr lang="zh-CN" altLang="zh-CN" sz="2000" b="1" kern="100" dirty="0">
                <a:effectLst/>
                <a:latin typeface="Calibri" panose="020F0502020204030204" pitchFamily="34" charset="0"/>
                <a:ea typeface="微软雅黑" panose="020B0503020204020204" pitchFamily="34" charset="-122"/>
                <a:cs typeface="Times New Roman" panose="02020603050405020304" pitchFamily="18" charset="0"/>
              </a:rPr>
              <a:t>【重点识记】</a:t>
            </a:r>
            <a:endParaRPr lang="zh-CN" altLang="zh-CN" sz="2000" b="1" kern="100" dirty="0">
              <a:effectLst/>
              <a:latin typeface="Calibri" panose="020F0502020204030204" pitchFamily="34" charset="0"/>
              <a:ea typeface="微软雅黑" panose="020B0503020204020204" pitchFamily="34" charset="-122"/>
              <a:cs typeface="Times New Roman" panose="02020603050405020304" pitchFamily="18" charset="0"/>
            </a:endParaRPr>
          </a:p>
          <a:p>
            <a:pPr algn="just">
              <a:lnSpc>
                <a:spcPct val="150000"/>
              </a:lnSpc>
            </a:pPr>
            <a:r>
              <a:rPr lang="en-US" altLang="zh-CN" sz="2000" kern="100" dirty="0">
                <a:effectLst/>
                <a:latin typeface="Calibri" panose="020F0502020204030204" pitchFamily="34" charset="0"/>
                <a:ea typeface="微软雅黑" panose="020B0503020204020204" pitchFamily="34" charset="-122"/>
                <a:cs typeface="Times New Roman" panose="02020603050405020304" pitchFamily="18" charset="0"/>
                <a:sym typeface="+mn-ea"/>
              </a:rPr>
              <a:t>1.</a:t>
            </a:r>
            <a:r>
              <a:rPr lang="zh-CN" altLang="en-US" sz="2000" kern="100" dirty="0">
                <a:effectLst/>
                <a:latin typeface="Calibri" panose="020F0502020204030204" pitchFamily="34" charset="0"/>
                <a:ea typeface="微软雅黑" panose="020B0503020204020204" pitchFamily="34" charset="-122"/>
                <a:cs typeface="Times New Roman" panose="02020603050405020304" pitchFamily="18" charset="0"/>
                <a:sym typeface="+mn-ea"/>
              </a:rPr>
              <a:t>国家安全是民族复兴的根基</a:t>
            </a:r>
            <a:endParaRPr lang="zh-CN" altLang="en-US" sz="2000" kern="100" dirty="0">
              <a:effectLst/>
              <a:latin typeface="Calibri" panose="020F0502020204030204" pitchFamily="34" charset="0"/>
              <a:ea typeface="微软雅黑" panose="020B0503020204020204" pitchFamily="34" charset="-122"/>
              <a:cs typeface="Times New Roman" panose="02020603050405020304" pitchFamily="18" charset="0"/>
              <a:sym typeface="+mn-ea"/>
            </a:endParaRPr>
          </a:p>
          <a:p>
            <a:pPr algn="just">
              <a:lnSpc>
                <a:spcPct val="150000"/>
              </a:lnSpc>
            </a:pPr>
            <a:r>
              <a:rPr lang="en-US" altLang="zh-CN" sz="2000" kern="100" dirty="0">
                <a:effectLst/>
                <a:latin typeface="Calibri" panose="020F0502020204030204" pitchFamily="34" charset="0"/>
                <a:ea typeface="微软雅黑" panose="020B0503020204020204" pitchFamily="34" charset="-122"/>
                <a:cs typeface="Times New Roman" panose="02020603050405020304" pitchFamily="18" charset="0"/>
                <a:sym typeface="+mn-ea"/>
              </a:rPr>
              <a:t>2.</a:t>
            </a:r>
            <a:r>
              <a:rPr lang="zh-CN" altLang="en-US" sz="2000" kern="100" dirty="0">
                <a:effectLst/>
                <a:latin typeface="Calibri" panose="020F0502020204030204" pitchFamily="34" charset="0"/>
                <a:ea typeface="微软雅黑" panose="020B0503020204020204" pitchFamily="34" charset="-122"/>
                <a:cs typeface="Times New Roman" panose="02020603050405020304" pitchFamily="18" charset="0"/>
                <a:sym typeface="+mn-ea"/>
              </a:rPr>
              <a:t>总体国家安全观的丰富内涵和指导意义</a:t>
            </a:r>
            <a:endParaRPr lang="zh-CN" altLang="en-US" sz="2000" kern="100" dirty="0">
              <a:effectLst/>
              <a:latin typeface="Calibri" panose="020F0502020204030204" pitchFamily="34" charset="0"/>
              <a:ea typeface="微软雅黑" panose="020B0503020204020204" pitchFamily="34" charset="-122"/>
              <a:cs typeface="Times New Roman" panose="02020603050405020304" pitchFamily="18" charset="0"/>
              <a:sym typeface="+mn-ea"/>
            </a:endParaRPr>
          </a:p>
          <a:p>
            <a:pPr algn="just">
              <a:lnSpc>
                <a:spcPct val="150000"/>
              </a:lnSpc>
            </a:pPr>
            <a:r>
              <a:rPr lang="en-US" altLang="zh-CN" sz="2000" kern="100" dirty="0">
                <a:effectLst/>
                <a:latin typeface="Calibri" panose="020F0502020204030204" pitchFamily="34" charset="0"/>
                <a:ea typeface="微软雅黑" panose="020B0503020204020204" pitchFamily="34" charset="-122"/>
                <a:cs typeface="Times New Roman" panose="02020603050405020304" pitchFamily="18" charset="0"/>
                <a:sym typeface="+mn-ea"/>
              </a:rPr>
              <a:t>3.</a:t>
            </a:r>
            <a:r>
              <a:rPr lang="zh-CN" altLang="en-US" sz="2000" kern="100" dirty="0">
                <a:effectLst/>
                <a:latin typeface="Calibri" panose="020F0502020204030204" pitchFamily="34" charset="0"/>
                <a:ea typeface="微软雅黑" panose="020B0503020204020204" pitchFamily="34" charset="-122"/>
                <a:cs typeface="Times New Roman" panose="02020603050405020304" pitchFamily="18" charset="0"/>
                <a:sym typeface="+mn-ea"/>
              </a:rPr>
              <a:t>构建统筹各领域安全的新安全格局</a:t>
            </a:r>
            <a:endParaRPr lang="zh-CN" altLang="en-US" sz="2000" kern="100" dirty="0">
              <a:effectLst/>
              <a:latin typeface="Calibri" panose="020F0502020204030204" pitchFamily="34" charset="0"/>
              <a:ea typeface="微软雅黑" panose="020B0503020204020204" pitchFamily="34" charset="-122"/>
              <a:cs typeface="Times New Roman" panose="02020603050405020304" pitchFamily="18" charset="0"/>
              <a:sym typeface="+mn-ea"/>
            </a:endParaRPr>
          </a:p>
          <a:p>
            <a:pPr algn="just">
              <a:lnSpc>
                <a:spcPct val="150000"/>
              </a:lnSpc>
            </a:pPr>
            <a:r>
              <a:rPr lang="en-US" altLang="zh-CN" sz="2000" kern="100" dirty="0">
                <a:effectLst/>
                <a:latin typeface="Calibri" panose="020F0502020204030204" pitchFamily="34" charset="0"/>
                <a:ea typeface="微软雅黑" panose="020B0503020204020204" pitchFamily="34" charset="-122"/>
                <a:cs typeface="Times New Roman" panose="02020603050405020304" pitchFamily="18" charset="0"/>
                <a:sym typeface="+mn-ea"/>
              </a:rPr>
              <a:t>4.</a:t>
            </a:r>
            <a:r>
              <a:rPr lang="zh-CN" altLang="en-US" sz="2000" kern="100" dirty="0">
                <a:effectLst/>
                <a:latin typeface="Calibri" panose="020F0502020204030204" pitchFamily="34" charset="0"/>
                <a:ea typeface="微软雅黑" panose="020B0503020204020204" pitchFamily="34" charset="-122"/>
                <a:cs typeface="Times New Roman" panose="02020603050405020304" pitchFamily="18" charset="0"/>
                <a:sym typeface="+mn-ea"/>
              </a:rPr>
              <a:t>推进国家安全体系和能力现代化</a:t>
            </a:r>
            <a:endParaRPr lang="en-US" altLang="zh-CN" sz="2000" kern="100" dirty="0">
              <a:effectLst/>
              <a:latin typeface="Calibri" panose="020F0502020204030204" pitchFamily="34" charset="0"/>
              <a:ea typeface="微软雅黑" panose="020B0503020204020204" pitchFamily="34" charset="-122"/>
              <a:cs typeface="Times New Roman" panose="02020603050405020304" pitchFamily="18" charset="0"/>
              <a:sym typeface="+mn-ea"/>
            </a:endParaRPr>
          </a:p>
          <a:p>
            <a:pPr algn="just">
              <a:lnSpc>
                <a:spcPct val="150000"/>
              </a:lnSpc>
            </a:pPr>
            <a:r>
              <a:rPr lang="zh-CN" altLang="zh-CN" sz="2000" b="1" kern="100" dirty="0">
                <a:effectLst/>
                <a:latin typeface="Calibri" panose="020F0502020204030204" pitchFamily="34" charset="0"/>
                <a:ea typeface="微软雅黑" panose="020B0503020204020204" pitchFamily="34" charset="-122"/>
                <a:cs typeface="Times New Roman" panose="02020603050405020304" pitchFamily="18" charset="0"/>
              </a:rPr>
              <a:t>【重点阐释】</a:t>
            </a:r>
            <a:endPar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50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sym typeface="+mn-ea"/>
              </a:rPr>
              <a:t>1.</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sym typeface="+mn-ea"/>
              </a:rPr>
              <a:t>为什么说统筹发展和安全是我党治国理政的重大原则？</a:t>
            </a:r>
            <a:endParaRPr lang="zh-CN" altLang="en-US" sz="2000" kern="100" dirty="0">
              <a:latin typeface="Calibri" panose="020F0502020204030204" pitchFamily="34" charset="0"/>
              <a:ea typeface="微软雅黑" panose="020B0503020204020204" pitchFamily="34" charset="-122"/>
              <a:cs typeface="Times New Roman" panose="02020603050405020304" pitchFamily="18" charset="0"/>
              <a:sym typeface="+mn-ea"/>
            </a:endParaRPr>
          </a:p>
          <a:p>
            <a:pPr algn="just">
              <a:lnSpc>
                <a:spcPct val="150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sym typeface="+mn-ea"/>
              </a:rPr>
              <a:t>2.</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sym typeface="+mn-ea"/>
              </a:rPr>
              <a:t>为什么要把维护政治安全放在国家安全的首要位置？</a:t>
            </a:r>
            <a:endParaRPr lang="zh-CN" altLang="en-US" sz="2000" kern="100" dirty="0">
              <a:latin typeface="Calibri" panose="020F0502020204030204" pitchFamily="34" charset="0"/>
              <a:ea typeface="微软雅黑" panose="020B0503020204020204" pitchFamily="34" charset="-122"/>
              <a:cs typeface="Times New Roman" panose="02020603050405020304" pitchFamily="18" charset="0"/>
              <a:sym typeface="+mn-ea"/>
            </a:endParaRPr>
          </a:p>
        </p:txBody>
      </p:sp>
      <p:sp>
        <p:nvSpPr>
          <p:cNvPr id="5" name="对角圆角矩形 3"/>
          <p:cNvSpPr/>
          <p:nvPr/>
        </p:nvSpPr>
        <p:spPr>
          <a:xfrm flipH="1">
            <a:off x="1490894" y="759571"/>
            <a:ext cx="9073008" cy="703072"/>
          </a:xfrm>
          <a:prstGeom prst="round2DiagRect">
            <a:avLst/>
          </a:prstGeom>
          <a:gradFill>
            <a:gsLst>
              <a:gs pos="0">
                <a:srgbClr val="C00000"/>
              </a:gs>
              <a:gs pos="100000">
                <a:srgbClr val="AC251C"/>
              </a:gs>
            </a:gsLst>
            <a:lin ang="0" scaled="0"/>
          </a:gradFill>
          <a:ln>
            <a:noFill/>
          </a:ln>
          <a:effectLst>
            <a:outerShdw blurRad="50800" dist="38100" algn="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第十三章</a:t>
            </a:r>
            <a:r>
              <a:rPr kumimoji="1" lang="en-US" altLang="zh-CN"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kumimoji="1" lang="zh-CN" altLang="en-US"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维护和塑造国家安全</a:t>
            </a:r>
            <a:endParaRPr kumimoji="1" lang="zh-CN" altLang="en-US"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956434" y="1476200"/>
            <a:ext cx="10279132" cy="3784600"/>
          </a:xfrm>
          <a:prstGeom prst="rect">
            <a:avLst/>
          </a:prstGeom>
          <a:noFill/>
        </p:spPr>
        <p:txBody>
          <a:bodyPr wrap="square">
            <a:spAutoFit/>
          </a:bodyPr>
          <a:lstStyle/>
          <a:p>
            <a:pPr algn="just">
              <a:lnSpc>
                <a:spcPct val="200000"/>
              </a:lnSpc>
            </a:pPr>
            <a:r>
              <a:rPr lang="zh-CN" altLang="zh-CN" sz="2000" b="1" kern="100" dirty="0">
                <a:effectLst/>
                <a:latin typeface="Calibri" panose="020F0502020204030204" pitchFamily="34" charset="0"/>
                <a:ea typeface="微软雅黑" panose="020B0503020204020204" pitchFamily="34" charset="-122"/>
                <a:cs typeface="Times New Roman" panose="02020603050405020304" pitchFamily="18" charset="0"/>
              </a:rPr>
              <a:t>【重点识记】</a:t>
            </a:r>
            <a:endPar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endParaRPr>
          </a:p>
          <a:p>
            <a:pPr lvl="0" algn="just">
              <a:lnSpc>
                <a:spcPct val="200000"/>
              </a:lnSpc>
              <a:defRPr/>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1.</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sym typeface="+mn-ea"/>
              </a:rPr>
              <a:t>新时代强军目标的科学内涵</a:t>
            </a:r>
            <a:endParaRPr lang="en-US" altLang="zh-CN" sz="2000" kern="100" dirty="0">
              <a:latin typeface="Calibri" panose="020F0502020204030204" pitchFamily="34" charset="0"/>
              <a:ea typeface="微软雅黑" panose="020B0503020204020204" pitchFamily="34" charset="-122"/>
              <a:cs typeface="Times New Roman" panose="02020603050405020304" pitchFamily="18" charset="0"/>
            </a:endParaRPr>
          </a:p>
          <a:p>
            <a:pPr algn="just">
              <a:lnSpc>
                <a:spcPct val="200000"/>
              </a:lnSpc>
              <a:defRPr/>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sym typeface="+mn-ea"/>
              </a:rPr>
              <a:t>2.</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rPr>
              <a:t>准确把握“一国两制”的科学内涵</a:t>
            </a:r>
            <a:endParaRPr lang="zh-CN" altLang="en-US" sz="2000" kern="100" dirty="0">
              <a:latin typeface="Calibri" panose="020F0502020204030204" pitchFamily="34" charset="0"/>
              <a:ea typeface="微软雅黑" panose="020B0503020204020204" pitchFamily="34" charset="-122"/>
              <a:cs typeface="Times New Roman" panose="02020603050405020304" pitchFamily="18" charset="0"/>
            </a:endParaRPr>
          </a:p>
          <a:p>
            <a:pPr algn="just">
              <a:lnSpc>
                <a:spcPct val="200000"/>
              </a:lnSpc>
              <a:defRPr/>
            </a:pPr>
            <a:r>
              <a:rPr lang="zh-CN" altLang="zh-CN" sz="2000" b="1" kern="100" dirty="0">
                <a:effectLst/>
                <a:latin typeface="Calibri" panose="020F0502020204030204" pitchFamily="34" charset="0"/>
                <a:ea typeface="微软雅黑" panose="020B0503020204020204" pitchFamily="34" charset="-122"/>
                <a:cs typeface="Times New Roman" panose="02020603050405020304" pitchFamily="18" charset="0"/>
              </a:rPr>
              <a:t>【重点阐释】</a:t>
            </a:r>
            <a:endPar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endParaRPr>
          </a:p>
          <a:p>
            <a:pPr lvl="0" algn="just">
              <a:lnSpc>
                <a:spcPct val="200000"/>
              </a:lnSpc>
              <a:defRPr/>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1.</a:t>
            </a:r>
            <a:r>
              <a:rPr lang="zh-CN" altLang="en-US" sz="2000" kern="100" dirty="0">
                <a:solidFill>
                  <a:prstClr val="black"/>
                </a:solidFill>
                <a:latin typeface="Calibri" panose="020F0502020204030204" pitchFamily="34" charset="0"/>
                <a:ea typeface="微软雅黑" panose="020B0503020204020204" pitchFamily="34" charset="-122"/>
                <a:cs typeface="Times New Roman" panose="02020603050405020304" pitchFamily="18" charset="0"/>
              </a:rPr>
              <a:t>为什么必须坚持党对人民军队的绝对领导？</a:t>
            </a:r>
            <a:endParaRPr lang="en-US" altLang="zh-CN" sz="2000" kern="100" dirty="0">
              <a:solidFill>
                <a:prstClr val="black"/>
              </a:solidFill>
              <a:latin typeface="Calibri" panose="020F0502020204030204" pitchFamily="34" charset="0"/>
              <a:ea typeface="微软雅黑" panose="020B0503020204020204" pitchFamily="34" charset="-122"/>
              <a:cs typeface="Times New Roman" panose="02020603050405020304" pitchFamily="18" charset="0"/>
            </a:endParaRPr>
          </a:p>
          <a:p>
            <a:pPr lvl="0" algn="just">
              <a:lnSpc>
                <a:spcPct val="200000"/>
              </a:lnSpc>
              <a:defRPr/>
            </a:pPr>
            <a:r>
              <a:rPr lang="en-US" altLang="zh-CN" sz="2000" kern="100" dirty="0">
                <a:solidFill>
                  <a:prstClr val="black"/>
                </a:solidFill>
                <a:latin typeface="Calibri" panose="020F0502020204030204" pitchFamily="34" charset="0"/>
                <a:ea typeface="微软雅黑" panose="020B0503020204020204" pitchFamily="34" charset="-122"/>
                <a:cs typeface="Times New Roman" panose="02020603050405020304" pitchFamily="18" charset="0"/>
                <a:sym typeface="+mn-ea"/>
              </a:rPr>
              <a:t>2.</a:t>
            </a:r>
            <a:r>
              <a:rPr lang="zh-CN" altLang="en-US" sz="2000" kern="100" dirty="0">
                <a:solidFill>
                  <a:prstClr val="black"/>
                </a:solidFill>
                <a:latin typeface="Calibri" panose="020F0502020204030204" pitchFamily="34" charset="0"/>
                <a:ea typeface="微软雅黑" panose="020B0503020204020204" pitchFamily="34" charset="-122"/>
                <a:cs typeface="Times New Roman" panose="02020603050405020304" pitchFamily="18" charset="0"/>
                <a:sym typeface="+mn-ea"/>
              </a:rPr>
              <a:t>如何坚持“一国两制”？</a:t>
            </a:r>
            <a:endParaRPr lang="zh-CN" altLang="zh-CN" sz="2000" kern="100" dirty="0">
              <a:solidFill>
                <a:prstClr val="black"/>
              </a:solidFill>
              <a:latin typeface="Calibri" panose="020F0502020204030204" pitchFamily="34" charset="0"/>
              <a:ea typeface="微软雅黑" panose="020B0503020204020204" pitchFamily="34" charset="-122"/>
              <a:cs typeface="Times New Roman" panose="02020603050405020304" pitchFamily="18" charset="0"/>
            </a:endParaRPr>
          </a:p>
        </p:txBody>
      </p:sp>
      <p:sp>
        <p:nvSpPr>
          <p:cNvPr id="4" name="对角圆角矩形 3"/>
          <p:cNvSpPr/>
          <p:nvPr/>
        </p:nvSpPr>
        <p:spPr>
          <a:xfrm flipH="1">
            <a:off x="1490894" y="759571"/>
            <a:ext cx="9073008" cy="703072"/>
          </a:xfrm>
          <a:prstGeom prst="round2DiagRect">
            <a:avLst/>
          </a:prstGeom>
          <a:gradFill>
            <a:gsLst>
              <a:gs pos="0">
                <a:srgbClr val="C00000"/>
              </a:gs>
              <a:gs pos="100000">
                <a:srgbClr val="AC251C"/>
              </a:gs>
            </a:gsLst>
            <a:lin ang="0" scaled="0"/>
          </a:gradFill>
          <a:ln>
            <a:noFill/>
          </a:ln>
          <a:effectLst>
            <a:outerShdw blurRad="50800" dist="38100" algn="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kumimoji="1" lang="zh-CN" altLang="en-US"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第十四章</a:t>
            </a:r>
            <a:r>
              <a:rPr kumimoji="1" lang="en-US" altLang="zh-CN"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kumimoji="1" lang="zh-CN" altLang="en-US"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十五章</a:t>
            </a:r>
            <a:r>
              <a:rPr kumimoji="1" lang="en-US" altLang="zh-CN"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kumimoji="1" lang="zh-CN" altLang="en-US"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实现中华民族伟大复兴的重要保障</a:t>
            </a:r>
            <a:endParaRPr kumimoji="1" lang="zh-CN" altLang="en-US"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56434" y="1952836"/>
            <a:ext cx="10279132" cy="3784600"/>
          </a:xfrm>
          <a:prstGeom prst="rect">
            <a:avLst/>
          </a:prstGeom>
          <a:noFill/>
        </p:spPr>
        <p:txBody>
          <a:bodyPr wrap="square">
            <a:spAutoFit/>
          </a:bodyPr>
          <a:lstStyle/>
          <a:p>
            <a:pPr algn="just">
              <a:lnSpc>
                <a:spcPct val="150000"/>
              </a:lnSpc>
            </a:pPr>
            <a:r>
              <a:rPr lang="zh-CN" altLang="zh-CN" sz="2000" b="1" kern="100" dirty="0">
                <a:effectLst/>
                <a:latin typeface="Calibri" panose="020F0502020204030204" pitchFamily="34" charset="0"/>
                <a:ea typeface="微软雅黑" panose="020B0503020204020204" pitchFamily="34" charset="-122"/>
                <a:cs typeface="Times New Roman" panose="02020603050405020304" pitchFamily="18" charset="0"/>
              </a:rPr>
              <a:t>【重点识记】</a:t>
            </a:r>
            <a:endParaRPr lang="zh-CN" altLang="zh-CN" sz="2000" b="1" kern="100" dirty="0">
              <a:effectLst/>
              <a:latin typeface="Calibri" panose="020F0502020204030204" pitchFamily="34" charset="0"/>
              <a:ea typeface="微软雅黑" panose="020B0503020204020204" pitchFamily="34" charset="-122"/>
              <a:cs typeface="Times New Roman" panose="02020603050405020304" pitchFamily="18" charset="0"/>
            </a:endParaRPr>
          </a:p>
          <a:p>
            <a:pPr indent="-358775" algn="just">
              <a:lnSpc>
                <a:spcPct val="150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1.</a:t>
            </a:r>
            <a:r>
              <a:rPr lang="zh-CN" altLang="zh-CN" sz="2000" kern="100" dirty="0">
                <a:latin typeface="Calibri" panose="020F0502020204030204" pitchFamily="34" charset="0"/>
                <a:ea typeface="微软雅黑" panose="020B0503020204020204" pitchFamily="34" charset="-122"/>
                <a:cs typeface="Times New Roman" panose="02020603050405020304" pitchFamily="18" charset="0"/>
              </a:rPr>
              <a:t>当今世界正经历百年未有之大变局</a:t>
            </a:r>
            <a:endParaRPr lang="en-US" altLang="zh-CN" sz="2000" kern="100" dirty="0">
              <a:latin typeface="Calibri" panose="020F0502020204030204" pitchFamily="34" charset="0"/>
              <a:ea typeface="微软雅黑" panose="020B0503020204020204" pitchFamily="34" charset="-122"/>
              <a:cs typeface="Times New Roman" panose="02020603050405020304" pitchFamily="18" charset="0"/>
            </a:endParaRPr>
          </a:p>
          <a:p>
            <a:pPr indent="-358775" algn="just">
              <a:lnSpc>
                <a:spcPct val="150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2.</a:t>
            </a:r>
            <a:r>
              <a:rPr lang="zh-CN" altLang="zh-CN" sz="2000" kern="100" dirty="0">
                <a:latin typeface="Calibri" panose="020F0502020204030204" pitchFamily="34" charset="0"/>
                <a:ea typeface="微软雅黑" panose="020B0503020204020204" pitchFamily="34" charset="-122"/>
                <a:cs typeface="Times New Roman" panose="02020603050405020304" pitchFamily="18" charset="0"/>
              </a:rPr>
              <a:t>全面推进中国特色大国外交的原则和布局</a:t>
            </a:r>
            <a:endParaRPr lang="en-US" altLang="zh-CN" sz="2000" kern="100" dirty="0">
              <a:latin typeface="Calibri" panose="020F0502020204030204" pitchFamily="34" charset="0"/>
              <a:ea typeface="微软雅黑" panose="020B0503020204020204" pitchFamily="34" charset="-122"/>
              <a:cs typeface="Times New Roman" panose="02020603050405020304" pitchFamily="18" charset="0"/>
            </a:endParaRPr>
          </a:p>
          <a:p>
            <a:pPr indent="-358775" algn="just">
              <a:lnSpc>
                <a:spcPct val="150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3.</a:t>
            </a:r>
            <a:r>
              <a:rPr lang="zh-CN" altLang="zh-CN" sz="2000" kern="100" dirty="0">
                <a:latin typeface="Calibri" panose="020F0502020204030204" pitchFamily="34" charset="0"/>
                <a:ea typeface="微软雅黑" panose="020B0503020204020204" pitchFamily="34" charset="-122"/>
                <a:cs typeface="Times New Roman" panose="02020603050405020304" pitchFamily="18" charset="0"/>
              </a:rPr>
              <a:t>推动构建人类命运共同体的丰富内涵和实践成果</a:t>
            </a:r>
            <a:endParaRPr lang="zh-CN" altLang="zh-CN" sz="2000" kern="100" dirty="0">
              <a:effectLst/>
              <a:latin typeface="Calibri" panose="020F0502020204030204" pitchFamily="34" charset="0"/>
              <a:ea typeface="微软雅黑" panose="020B0503020204020204" pitchFamily="34" charset="-122"/>
              <a:cs typeface="Times New Roman" panose="02020603050405020304" pitchFamily="18" charset="0"/>
            </a:endParaRPr>
          </a:p>
          <a:p>
            <a:pPr algn="just">
              <a:lnSpc>
                <a:spcPct val="150000"/>
              </a:lnSpc>
            </a:pPr>
            <a:r>
              <a:rPr lang="zh-CN" altLang="zh-CN" sz="2000" b="1" kern="100" dirty="0">
                <a:effectLst/>
                <a:latin typeface="Calibri" panose="020F0502020204030204" pitchFamily="34" charset="0"/>
                <a:ea typeface="微软雅黑" panose="020B0503020204020204" pitchFamily="34" charset="-122"/>
                <a:cs typeface="Times New Roman" panose="02020603050405020304" pitchFamily="18" charset="0"/>
              </a:rPr>
              <a:t>【重点阐释】</a:t>
            </a:r>
            <a:endPar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endParaRPr>
          </a:p>
          <a:p>
            <a:pPr>
              <a:lnSpc>
                <a:spcPct val="150000"/>
              </a:lnSpc>
            </a:pPr>
            <a:r>
              <a:rPr lang="en-US" altLang="zh-CN" sz="2000" kern="100" dirty="0">
                <a:solidFill>
                  <a:prstClr val="black"/>
                </a:solidFill>
                <a:latin typeface="Calibri" panose="020F0502020204030204" pitchFamily="34" charset="0"/>
                <a:ea typeface="微软雅黑" panose="020B0503020204020204" pitchFamily="34" charset="-122"/>
                <a:cs typeface="Times New Roman" panose="02020603050405020304" pitchFamily="18" charset="0"/>
              </a:rPr>
              <a:t>1.</a:t>
            </a:r>
            <a:r>
              <a:rPr lang="zh-CN" altLang="en-US" sz="2000" kern="100" dirty="0">
                <a:solidFill>
                  <a:prstClr val="black"/>
                </a:solidFill>
                <a:latin typeface="Calibri" panose="020F0502020204030204" pitchFamily="34" charset="0"/>
                <a:ea typeface="微软雅黑" panose="020B0503020204020204" pitchFamily="34" charset="-122"/>
                <a:cs typeface="Times New Roman" panose="02020603050405020304" pitchFamily="18" charset="0"/>
              </a:rPr>
              <a:t>新型国际关系“新”在何处？</a:t>
            </a:r>
            <a:endParaRPr lang="en-US" altLang="zh-CN" sz="2000" kern="100" dirty="0">
              <a:solidFill>
                <a:prstClr val="black"/>
              </a:solidFill>
              <a:latin typeface="Calibri" panose="020F0502020204030204" pitchFamily="34" charset="0"/>
              <a:ea typeface="微软雅黑" panose="020B0503020204020204" pitchFamily="34" charset="-122"/>
              <a:cs typeface="Times New Roman" panose="02020603050405020304" pitchFamily="18" charset="0"/>
            </a:endParaRPr>
          </a:p>
          <a:p>
            <a:pPr>
              <a:lnSpc>
                <a:spcPct val="150000"/>
              </a:lnSpc>
            </a:pPr>
            <a:r>
              <a:rPr lang="en-US" altLang="zh-CN" sz="2000" kern="100" dirty="0">
                <a:solidFill>
                  <a:prstClr val="black"/>
                </a:solidFill>
                <a:latin typeface="Calibri" panose="020F0502020204030204" pitchFamily="34" charset="0"/>
                <a:ea typeface="微软雅黑" panose="020B0503020204020204" pitchFamily="34" charset="-122"/>
                <a:cs typeface="Times New Roman" panose="02020603050405020304" pitchFamily="18" charset="0"/>
              </a:rPr>
              <a:t>2.</a:t>
            </a:r>
            <a:r>
              <a:rPr lang="zh-CN" altLang="en-US" sz="2000" kern="100" dirty="0">
                <a:solidFill>
                  <a:prstClr val="black"/>
                </a:solidFill>
                <a:latin typeface="Calibri" panose="020F0502020204030204" pitchFamily="34" charset="0"/>
                <a:ea typeface="微软雅黑" panose="020B0503020204020204" pitchFamily="34" charset="-122"/>
                <a:cs typeface="Times New Roman" panose="02020603050405020304" pitchFamily="18" charset="0"/>
              </a:rPr>
              <a:t>如何理解人类命运共同体的内涵？</a:t>
            </a:r>
            <a:endParaRPr lang="en-US" altLang="zh-CN" sz="2000" kern="100" dirty="0">
              <a:solidFill>
                <a:prstClr val="black"/>
              </a:solidFill>
              <a:latin typeface="Calibri" panose="020F0502020204030204" pitchFamily="34" charset="0"/>
              <a:ea typeface="微软雅黑" panose="020B0503020204020204" pitchFamily="34" charset="-122"/>
              <a:cs typeface="Times New Roman" panose="02020603050405020304" pitchFamily="18" charset="0"/>
            </a:endParaRPr>
          </a:p>
          <a:p>
            <a:pPr>
              <a:lnSpc>
                <a:spcPct val="150000"/>
              </a:lnSpc>
            </a:pPr>
            <a:endParaRPr lang="zh-CN" altLang="en-US" sz="2000" kern="100" dirty="0">
              <a:solidFill>
                <a:prstClr val="black"/>
              </a:solidFill>
              <a:latin typeface="Calibri" panose="020F0502020204030204" pitchFamily="34" charset="0"/>
              <a:ea typeface="微软雅黑" panose="020B0503020204020204" pitchFamily="34" charset="-122"/>
              <a:cs typeface="Times New Roman" panose="02020603050405020304" pitchFamily="18" charset="0"/>
            </a:endParaRPr>
          </a:p>
        </p:txBody>
      </p:sp>
      <p:sp>
        <p:nvSpPr>
          <p:cNvPr id="5" name="对角圆角矩形 3"/>
          <p:cNvSpPr/>
          <p:nvPr/>
        </p:nvSpPr>
        <p:spPr>
          <a:xfrm flipH="1">
            <a:off x="1490894" y="759571"/>
            <a:ext cx="9073008" cy="703072"/>
          </a:xfrm>
          <a:prstGeom prst="round2DiagRect">
            <a:avLst/>
          </a:prstGeom>
          <a:gradFill>
            <a:gsLst>
              <a:gs pos="0">
                <a:srgbClr val="C00000"/>
              </a:gs>
              <a:gs pos="100000">
                <a:srgbClr val="AC251C"/>
              </a:gs>
            </a:gsLst>
            <a:lin ang="0" scaled="0"/>
          </a:gradFill>
          <a:ln>
            <a:noFill/>
          </a:ln>
          <a:effectLst>
            <a:outerShdw blurRad="50800" dist="38100" algn="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第十六章</a:t>
            </a:r>
            <a:r>
              <a:rPr kumimoji="1" lang="en-US" altLang="zh-CN"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kumimoji="1" lang="zh-CN" altLang="en-US"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中国特色大国外交和推动构建人类命运共同体</a:t>
            </a:r>
            <a:endParaRPr kumimoji="1" lang="zh-CN" altLang="en-US"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956434" y="1952836"/>
            <a:ext cx="10279132" cy="3784600"/>
          </a:xfrm>
          <a:prstGeom prst="rect">
            <a:avLst/>
          </a:prstGeom>
          <a:noFill/>
        </p:spPr>
        <p:txBody>
          <a:bodyPr wrap="square">
            <a:spAutoFit/>
          </a:bodyPr>
          <a:lstStyle/>
          <a:p>
            <a:pPr algn="just">
              <a:lnSpc>
                <a:spcPct val="150000"/>
              </a:lnSpc>
            </a:pPr>
            <a:r>
              <a:rPr lang="zh-CN" altLang="zh-CN" sz="2000" b="1" kern="100" dirty="0">
                <a:effectLst/>
                <a:latin typeface="Calibri" panose="020F0502020204030204" pitchFamily="34" charset="0"/>
                <a:ea typeface="微软雅黑" panose="020B0503020204020204" pitchFamily="34" charset="-122"/>
                <a:cs typeface="Times New Roman" panose="02020603050405020304" pitchFamily="18" charset="0"/>
              </a:rPr>
              <a:t>【重点识记】</a:t>
            </a:r>
            <a:endParaRPr lang="zh-CN" altLang="zh-CN" sz="2000" b="1" kern="100" dirty="0">
              <a:effectLst/>
              <a:latin typeface="Calibri" panose="020F0502020204030204" pitchFamily="34" charset="0"/>
              <a:ea typeface="微软雅黑" panose="020B0503020204020204" pitchFamily="34" charset="-122"/>
              <a:cs typeface="Times New Roman" panose="02020603050405020304" pitchFamily="18" charset="0"/>
            </a:endParaRPr>
          </a:p>
          <a:p>
            <a:pPr indent="-358775" algn="just">
              <a:lnSpc>
                <a:spcPct val="150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1.</a:t>
            </a:r>
            <a:r>
              <a:rPr lang="zh-CN" altLang="en-US" sz="2000" kern="100" dirty="0">
                <a:solidFill>
                  <a:prstClr val="black"/>
                </a:solidFill>
                <a:latin typeface="Calibri" panose="020F0502020204030204" pitchFamily="34" charset="0"/>
                <a:ea typeface="微软雅黑" panose="020B0503020204020204" pitchFamily="34" charset="-122"/>
                <a:cs typeface="Times New Roman" panose="02020603050405020304" pitchFamily="18" charset="0"/>
                <a:sym typeface="+mn-ea"/>
              </a:rPr>
              <a:t>全面从严治党，核心是加强党的领导，基础在全面，关键在严，要害在治</a:t>
            </a:r>
            <a:endParaRPr lang="en-US" altLang="zh-CN" sz="2000" kern="100" dirty="0">
              <a:latin typeface="Calibri" panose="020F0502020204030204" pitchFamily="34" charset="0"/>
              <a:ea typeface="微软雅黑" panose="020B0503020204020204" pitchFamily="34" charset="-122"/>
              <a:cs typeface="Times New Roman" panose="02020603050405020304" pitchFamily="18" charset="0"/>
            </a:endParaRPr>
          </a:p>
          <a:p>
            <a:pPr indent="-358775" algn="just">
              <a:lnSpc>
                <a:spcPct val="150000"/>
              </a:lnSpc>
            </a:pPr>
            <a:r>
              <a:rPr lang="en-US" altLang="zh-CN" sz="2000" kern="100" dirty="0">
                <a:latin typeface="Calibri" panose="020F0502020204030204" pitchFamily="34" charset="0"/>
                <a:ea typeface="微软雅黑" panose="020B0503020204020204" pitchFamily="34" charset="-122"/>
                <a:cs typeface="Times New Roman" panose="02020603050405020304" pitchFamily="18" charset="0"/>
              </a:rPr>
              <a:t>2.</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rPr>
              <a:t>以党的政治建设统领党的建设各项工作</a:t>
            </a:r>
            <a:endParaRPr lang="zh-CN" altLang="en-US" sz="2000" kern="100" dirty="0">
              <a:latin typeface="Calibri" panose="020F0502020204030204" pitchFamily="34" charset="0"/>
              <a:ea typeface="微软雅黑" panose="020B0503020204020204" pitchFamily="34" charset="-122"/>
              <a:cs typeface="Times New Roman" panose="02020603050405020304" pitchFamily="18" charset="0"/>
            </a:endParaRPr>
          </a:p>
          <a:p>
            <a:pPr indent="-358775" algn="just">
              <a:lnSpc>
                <a:spcPct val="150000"/>
              </a:lnSpc>
            </a:pPr>
            <a:r>
              <a:rPr lang="zh-CN" altLang="zh-CN" sz="2000" b="1" kern="100" dirty="0">
                <a:effectLst/>
                <a:latin typeface="Calibri" panose="020F0502020204030204" pitchFamily="34" charset="0"/>
                <a:ea typeface="微软雅黑" panose="020B0503020204020204" pitchFamily="34" charset="-122"/>
                <a:cs typeface="Times New Roman" panose="02020603050405020304" pitchFamily="18" charset="0"/>
              </a:rPr>
              <a:t>【重点阐释】</a:t>
            </a:r>
            <a:endParaRPr lang="zh-CN" altLang="zh-CN" sz="2000" kern="100" dirty="0">
              <a:effectLst/>
              <a:latin typeface="Calibri" panose="020F0502020204030204" pitchFamily="34" charset="0"/>
              <a:ea typeface="宋体" panose="02010600030101010101" pitchFamily="2" charset="-122"/>
              <a:cs typeface="Times New Roman" panose="02020603050405020304" pitchFamily="18" charset="0"/>
            </a:endParaRPr>
          </a:p>
          <a:p>
            <a:pPr>
              <a:lnSpc>
                <a:spcPct val="150000"/>
              </a:lnSpc>
            </a:pPr>
            <a:r>
              <a:rPr lang="en-US" altLang="zh-CN" sz="2000" kern="100" dirty="0">
                <a:solidFill>
                  <a:prstClr val="black"/>
                </a:solidFill>
                <a:latin typeface="Calibri" panose="020F0502020204030204" pitchFamily="34" charset="0"/>
                <a:ea typeface="微软雅黑" panose="020B0503020204020204" pitchFamily="34" charset="-122"/>
                <a:cs typeface="Times New Roman" panose="02020603050405020304" pitchFamily="18" charset="0"/>
              </a:rPr>
              <a:t>1.</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sym typeface="+mn-ea"/>
              </a:rPr>
              <a:t>全面从严治党是新时代党的建设的鲜明主题</a:t>
            </a:r>
            <a:endParaRPr lang="zh-CN" altLang="en-US" sz="2000" kern="100" dirty="0">
              <a:latin typeface="Calibri" panose="020F0502020204030204" pitchFamily="34" charset="0"/>
              <a:ea typeface="微软雅黑" panose="020B0503020204020204" pitchFamily="34" charset="-122"/>
              <a:cs typeface="Times New Roman" panose="02020603050405020304" pitchFamily="18" charset="0"/>
              <a:sym typeface="+mn-ea"/>
            </a:endParaRPr>
          </a:p>
          <a:p>
            <a:pPr>
              <a:lnSpc>
                <a:spcPct val="150000"/>
              </a:lnSpc>
            </a:pPr>
            <a:r>
              <a:rPr lang="en-US" altLang="zh-CN" sz="2000" kern="100" dirty="0">
                <a:solidFill>
                  <a:prstClr val="black"/>
                </a:solidFill>
                <a:latin typeface="Calibri" panose="020F0502020204030204" pitchFamily="34" charset="0"/>
                <a:ea typeface="微软雅黑" panose="020B0503020204020204" pitchFamily="34" charset="-122"/>
                <a:cs typeface="Times New Roman" panose="02020603050405020304" pitchFamily="18" charset="0"/>
                <a:sym typeface="+mn-ea"/>
              </a:rPr>
              <a:t>2.</a:t>
            </a:r>
            <a:r>
              <a:rPr lang="zh-CN" altLang="en-US" sz="2000" kern="100" dirty="0">
                <a:latin typeface="Calibri" panose="020F0502020204030204" pitchFamily="34" charset="0"/>
                <a:ea typeface="微软雅黑" panose="020B0503020204020204" pitchFamily="34" charset="-122"/>
                <a:cs typeface="Times New Roman" panose="02020603050405020304" pitchFamily="18" charset="0"/>
                <a:sym typeface="+mn-ea"/>
              </a:rPr>
              <a:t>反腐败斗争取得压倒性胜利并全面巩固</a:t>
            </a:r>
            <a:endParaRPr lang="en-US" altLang="zh-CN" sz="2000" kern="100" dirty="0">
              <a:solidFill>
                <a:prstClr val="black"/>
              </a:solidFill>
              <a:latin typeface="Calibri" panose="020F0502020204030204" pitchFamily="34" charset="0"/>
              <a:ea typeface="微软雅黑" panose="020B0503020204020204" pitchFamily="34" charset="-122"/>
              <a:cs typeface="Times New Roman" panose="02020603050405020304" pitchFamily="18" charset="0"/>
            </a:endParaRPr>
          </a:p>
          <a:p>
            <a:pPr>
              <a:lnSpc>
                <a:spcPct val="150000"/>
              </a:lnSpc>
            </a:pPr>
            <a:r>
              <a:rPr lang="en-US" altLang="zh-CN" sz="2000" kern="100" dirty="0">
                <a:effectLst/>
                <a:latin typeface="Calibri" panose="020F0502020204030204" pitchFamily="34" charset="0"/>
                <a:ea typeface="微软雅黑" panose="020B0503020204020204" pitchFamily="34" charset="-122"/>
                <a:cs typeface="Times New Roman" panose="02020603050405020304" pitchFamily="18" charset="0"/>
                <a:sym typeface="+mn-ea"/>
              </a:rPr>
              <a:t>3.</a:t>
            </a:r>
            <a:r>
              <a:rPr lang="zh-CN" altLang="en-US" sz="2000" kern="100" dirty="0">
                <a:effectLst/>
                <a:latin typeface="Calibri" panose="020F0502020204030204" pitchFamily="34" charset="0"/>
                <a:ea typeface="微软雅黑" panose="020B0503020204020204" pitchFamily="34" charset="-122"/>
                <a:cs typeface="Times New Roman" panose="02020603050405020304" pitchFamily="18" charset="0"/>
                <a:sym typeface="+mn-ea"/>
              </a:rPr>
              <a:t>党的自我革命是跳出历史周期率的第二个答案</a:t>
            </a:r>
            <a:endParaRPr lang="zh-CN" altLang="zh-CN" sz="2000" kern="100" dirty="0">
              <a:effectLst/>
              <a:latin typeface="Calibri" panose="020F0502020204030204" pitchFamily="34" charset="0"/>
              <a:ea typeface="微软雅黑" panose="020B0503020204020204" pitchFamily="34" charset="-122"/>
              <a:cs typeface="Times New Roman" panose="02020603050405020304" pitchFamily="18" charset="0"/>
            </a:endParaRPr>
          </a:p>
          <a:p>
            <a:pPr>
              <a:lnSpc>
                <a:spcPct val="150000"/>
              </a:lnSpc>
            </a:pPr>
            <a:endParaRPr lang="zh-CN" altLang="en-US" sz="2000" kern="100" dirty="0">
              <a:solidFill>
                <a:prstClr val="black"/>
              </a:solidFill>
              <a:latin typeface="Calibri" panose="020F0502020204030204" pitchFamily="34" charset="0"/>
              <a:ea typeface="微软雅黑" panose="020B0503020204020204" pitchFamily="34" charset="-122"/>
              <a:cs typeface="Times New Roman" panose="02020603050405020304" pitchFamily="18" charset="0"/>
            </a:endParaRPr>
          </a:p>
        </p:txBody>
      </p:sp>
      <p:sp>
        <p:nvSpPr>
          <p:cNvPr id="5" name="对角圆角矩形 3"/>
          <p:cNvSpPr/>
          <p:nvPr/>
        </p:nvSpPr>
        <p:spPr>
          <a:xfrm flipH="1">
            <a:off x="1490894" y="759571"/>
            <a:ext cx="9073008" cy="703072"/>
          </a:xfrm>
          <a:prstGeom prst="round2DiagRect">
            <a:avLst/>
          </a:prstGeom>
          <a:gradFill>
            <a:gsLst>
              <a:gs pos="0">
                <a:srgbClr val="C00000"/>
              </a:gs>
              <a:gs pos="100000">
                <a:srgbClr val="AC251C"/>
              </a:gs>
            </a:gsLst>
            <a:lin ang="0" scaled="0"/>
          </a:gradFill>
          <a:ln>
            <a:noFill/>
          </a:ln>
          <a:effectLst>
            <a:outerShdw blurRad="50800" dist="38100" algn="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第十七章</a:t>
            </a:r>
            <a:r>
              <a:rPr kumimoji="1" lang="en-US" altLang="zh-CN"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kumimoji="1" lang="zh-CN" altLang="en-US"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全面从严治党</a:t>
            </a:r>
            <a:endParaRPr kumimoji="1" lang="zh-CN" altLang="en-US" sz="24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ags/tag1.xml><?xml version="1.0" encoding="utf-8"?>
<p:tagLst xmlns:p="http://schemas.openxmlformats.org/presentationml/2006/main">
  <p:tag name="KSO_WPP_MARK_KEY" val="efe9fad4-de23-4550-8988-68540495ac10"/>
  <p:tag name="COMMONDATA" val="eyJoZGlkIjoiYzBiM2E4NTYwYWRlMTQ2NmU5ZTQ5NDQ0MTM1YWU0Y2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a:spAutoFit/>
      </a:bodyPr>
      <a:lstStyle>
        <a:defPPr algn="just">
          <a:defRPr sz="2000" dirty="0">
            <a:solidFill>
              <a:schemeClr val="tx1">
                <a:lumMod val="85000"/>
                <a:lumOff val="15000"/>
              </a:schemeClr>
            </a:solidFill>
            <a:latin typeface="微软雅黑" panose="020B0503020204020204" pitchFamily="34" charset="-122"/>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2915</Words>
  <Application>WPS 演示</Application>
  <PresentationFormat>宽屏</PresentationFormat>
  <Paragraphs>198</Paragraphs>
  <Slides>17</Slides>
  <Notes>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17</vt:i4>
      </vt:variant>
    </vt:vector>
  </HeadingPairs>
  <TitlesOfParts>
    <vt:vector size="26" baseType="lpstr">
      <vt:lpstr>Arial</vt:lpstr>
      <vt:lpstr>宋体</vt:lpstr>
      <vt:lpstr>Wingdings</vt:lpstr>
      <vt:lpstr>微软雅黑</vt:lpstr>
      <vt:lpstr>Calibri</vt:lpstr>
      <vt:lpstr>Times New Roman</vt:lpstr>
      <vt:lpstr>Arial Unicode MS</vt:lpstr>
      <vt:lpstr>等线</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ZL</cp:lastModifiedBy>
  <cp:revision>88</cp:revision>
  <dcterms:created xsi:type="dcterms:W3CDTF">2023-01-01T02:51:00Z</dcterms:created>
  <dcterms:modified xsi:type="dcterms:W3CDTF">2025-06-16T05:08:59Z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2052-12.1.0.21541</vt:lpwstr>
  </property>
  <property fmtid="{D5CDD505-2E9C-101B-9397-08002B2CF9AE}" pid="3" name="ICV">
    <vt:lpwstr>2801659A794F4E109F454B7BE8404C15_13</vt:lpwstr>
  </property>
</Properties>
</file>